
<file path=[Content_Types].xml><?xml version="1.0" encoding="utf-8"?>
<Types xmlns="http://schemas.openxmlformats.org/package/2006/content-types">
  <Default Extension="svg" ContentType="image/svg+xml"/>
  <Default Extension="jpg" ContentType="image/jpeg"/>
  <Default Extension="xml" ContentType="application/xml"/>
  <Default Extension="rels" ContentType="application/vnd.openxmlformats-package.relationships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6" Type="http://schemas.openxmlformats.org/officeDocument/2006/relationships/viewProps" Target="viewProps.xml" /><Relationship Id="rId15" Type="http://schemas.openxmlformats.org/officeDocument/2006/relationships/tableStyles" Target="tableStyles.xml" /><Relationship Id="rId14" Type="http://schemas.openxmlformats.org/officeDocument/2006/relationships/presProps" Target="presProps.xml" /><Relationship Id="rId2" Type="http://schemas.openxmlformats.org/officeDocument/2006/relationships/slide" Target="slides/slide2.xml" /><Relationship Id="rId12" Type="http://schemas.openxmlformats.org/officeDocument/2006/relationships/slide" Target="slides/slide12.xml" /><Relationship Id="rId13" Type="http://schemas.openxmlformats.org/officeDocument/2006/relationships/notesMaster" Target="notesMasters/notesMaster1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11" Type="http://schemas.openxmlformats.org/officeDocument/2006/relationships/slide" Target="slides/slide1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7.svg" /><Relationship Id="rId1" Type="http://schemas.openxmlformats.org/officeDocument/2006/relationships/image" Target="media/image6.svg" /><Relationship Id="rId3" Type="http://schemas.openxmlformats.org/officeDocument/2006/relationships/image" Target="media/image8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4" Type="http://schemas.openxmlformats.org/officeDocument/2006/relationships/image" Target="media/image13.svg" /><Relationship Id="rId3" Type="http://schemas.openxmlformats.org/officeDocument/2006/relationships/image" Target="media/image12.svg" /><Relationship Id="rId2" Type="http://schemas.openxmlformats.org/officeDocument/2006/relationships/image" Target="media/image11.svg" /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8" Type="http://schemas.openxmlformats.org/officeDocument/2006/relationships/image" Target="media/image21.svg" /><Relationship Id="rId4" Type="http://schemas.openxmlformats.org/officeDocument/2006/relationships/image" Target="media/image17.svg" /><Relationship Id="rId6" Type="http://schemas.openxmlformats.org/officeDocument/2006/relationships/image" Target="media/image19.svg" /><Relationship Id="rId9" Type="http://schemas.openxmlformats.org/officeDocument/2006/relationships/image" Target="media/image22.svg" /><Relationship Id="rId12" Type="http://schemas.openxmlformats.org/officeDocument/2006/relationships/image" Target="media/image25.svg" /><Relationship Id="rId7" Type="http://schemas.openxmlformats.org/officeDocument/2006/relationships/image" Target="media/image20.svg" /><Relationship Id="rId3" Type="http://schemas.openxmlformats.org/officeDocument/2006/relationships/image" Target="media/image16.svg" /><Relationship Id="rId2" Type="http://schemas.openxmlformats.org/officeDocument/2006/relationships/image" Target="media/image15.svg" /><Relationship Id="rId5" Type="http://schemas.openxmlformats.org/officeDocument/2006/relationships/image" Target="media/image18.svg" /><Relationship Id="rId1" Type="http://schemas.openxmlformats.org/officeDocument/2006/relationships/image" Target="media/image14.svg" /><Relationship Id="rId11" Type="http://schemas.openxmlformats.org/officeDocument/2006/relationships/image" Target="media/image24.svg" /><Relationship Id="rId10" Type="http://schemas.openxmlformats.org/officeDocument/2006/relationships/image" Target="media/image23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11.svg" /><Relationship Id="rId4" Type="http://schemas.openxmlformats.org/officeDocument/2006/relationships/image" Target="media/image28.svg" /><Relationship Id="rId1" Type="http://schemas.openxmlformats.org/officeDocument/2006/relationships/image" Target="media/image26.svg" /><Relationship Id="rId2" Type="http://schemas.openxmlformats.org/officeDocument/2006/relationships/image" Target="media/image27.svg" /><Relationship Id="rId5" Type="http://schemas.openxmlformats.org/officeDocument/2006/relationships/image" Target="media/image29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4" Type="http://schemas.openxmlformats.org/officeDocument/2006/relationships/image" Target="media/image31.svg" /><Relationship Id="rId3" Type="http://schemas.openxmlformats.org/officeDocument/2006/relationships/image" Target="media/image30.svg" /><Relationship Id="rId2" Type="http://schemas.openxmlformats.org/officeDocument/2006/relationships/image" Target="media/image26.svg" /><Relationship Id="rId1" Type="http://schemas.openxmlformats.org/officeDocument/2006/relationships/image" Target="media/image18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5" Type="http://schemas.openxmlformats.org/officeDocument/2006/relationships/image" Target="media/image3.svg" /><Relationship Id="rId4" Type="http://schemas.openxmlformats.org/officeDocument/2006/relationships/image" Target="media/image33.svg" /><Relationship Id="rId3" Type="http://schemas.openxmlformats.org/officeDocument/2006/relationships/image" Target="media/image6.svg" /><Relationship Id="rId2" Type="http://schemas.openxmlformats.org/officeDocument/2006/relationships/image" Target="media/image30.svg" /><Relationship Id="rId6" Type="http://schemas.openxmlformats.org/officeDocument/2006/relationships/image" Target="media/image34.svg" /><Relationship Id="rId1" Type="http://schemas.openxmlformats.org/officeDocument/2006/relationships/image" Target="media/image32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3" Type="http://schemas.openxmlformats.org/officeDocument/2006/relationships/image" Target="media/image27.svg" /><Relationship Id="rId2" Type="http://schemas.openxmlformats.org/officeDocument/2006/relationships/image" Target="media/image36.svg" /><Relationship Id="rId1" Type="http://schemas.openxmlformats.org/officeDocument/2006/relationships/image" Target="media/image35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4.svg" /><Relationship Id="rId1" Type="http://schemas.openxmlformats.org/officeDocument/2006/relationships/image" Target="media/image3.svg" /><Relationship Id="rId3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'1280px', height: '720px', background: '#0F172A', padding: 0, fontFamily: 'Noto Sans CJK SC, PingFang SC, Helvetica Neue, sans-serif' }}&gt;&#10;  &lt;Box style={{ position: 'relative', width: '100%', height: '100%' }}&gt;&#10;    &lt;Image src=&quot;resources/images/flywheel_cover.jpg&quot; style={{ position: 'absolute', top: 0, left: 0, width: '100%', height: '100%', objectFit: 'cover' }} /&gt;&#10;    &lt;Box style={{ position: 'absolute', top: 0, left: 0, width: '100%', height: '100%', background: 'linear-gradient(90deg, rgba(15,23,42,0.96) 0%, rgba(15,23,42,0.78) 45%, rgba(15,23,42,0.30) 100%)' }} /&gt;&#10;    &lt;Box style={{ position: 'relative', zIndex: 1, height: '100%', padding: '0 80px', flexDirection: 'column', justifyContent: 'center' }}&gt;&#10;      &lt;Text style={{ fontSize: 20, color: '#22D3EE', letterSpacing: 6, fontWeight: 600 }}&gt;GYRA · 业务场景 LOOP&lt;/Text&gt;&#10;      &lt;Text style={{ fontSize: 64, fontWeight: 'bold', color: '#F1F5F9', lineHeight: 1.25, marginTop: 24 }}&gt;让数据可信&lt;br /&gt;让 Agent 越用越强&lt;/Text&gt;&#10;      &lt;Text style={{ fontSize: 22, color: '#94A3B8', marginTop: 28, lineHeight: 1.6 }}&gt;业务 Loop 全链路解读：数据稳定准确 · 数据循环 · 数据学习 · 持续成长&lt;/Text&gt;&#10;      &lt;Box style={{ marginTop: 52, flexDirection: 'row', gap: 16, alignItems: 'center' }}&gt;&#10;        &lt;Box style={{ width: 72, height: 4, background: 'linear-gradient(90deg, #3B82F6, #22D3EE)', borderRadius: 2 }} /&gt;&#10;        &lt;Text style={{ fontSize: 16, color: '#94A3B8' }}&gt;面向客户的产品全景宣讲&lt;/Text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5625" t="0" r="5625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96000"/>
                </a:srgbClr>
              </a:gs>
              <a:gs pos="45000">
                <a:srgbClr val="0F172A">
                  <a:alpha val="78000"/>
                </a:srgbClr>
              </a:gs>
              <a:gs pos="100000">
                <a:srgbClr val="0F172A">
                  <a:alpha val="3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2000" y="1609725"/>
            <a:ext cx="10668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450">
                <a:solidFill>
                  <a:srgbClr val="22D3EE"/>
                </a:solidFill>
                <a:latin typeface="Noto Sans CJK SC"/>
                <a:ea typeface="Noto Sans CJK SC"/>
              </a:rPr>
              <a:t>GYRA · </a:t>
            </a:r>
            <a:r>
              <a:rPr lang="zh-CN" sz="1500" b="1" spc="450">
                <a:solidFill>
                  <a:srgbClr val="22D3EE"/>
                </a:solidFill>
                <a:latin typeface="Noto Sans CJK SC"/>
                <a:ea typeface="Noto Sans CJK SC"/>
              </a:rPr>
              <a:t>业务场景</a:t>
            </a:r>
            <a:r>
              <a:rPr lang="en-US" sz="1500" b="1" spc="450">
                <a:solidFill>
                  <a:srgbClr val="22D3EE"/>
                </a:solidFill>
                <a:latin typeface="Noto Sans CJK SC"/>
                <a:ea typeface="Noto Sans CJK SC"/>
              </a:rPr>
              <a:t> LOOP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62000" y="2066925"/>
            <a:ext cx="10668000" cy="18288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800" b="1">
                <a:solidFill>
                  <a:srgbClr val="F1F5F9"/>
                </a:solidFill>
                <a:latin typeface="Noto Sans CJK SC"/>
                <a:ea typeface="Noto Sans CJK SC"/>
              </a:rPr>
              <a:t>让数据可信</a:t>
            </a:r>
            <a:endParaRPr/>
          </a:p>
          <a:p>
            <a:pPr>
              <a:lnSpc>
                <a:spcPct val="125000"/>
              </a:lnSpc>
            </a:pPr>
            <a:r>
              <a:rPr lang="zh-CN" sz="4800" b="1">
                <a:solidFill>
                  <a:srgbClr val="F1F5F9"/>
                </a:solidFill>
                <a:latin typeface="Noto Sans CJK SC"/>
                <a:ea typeface="Noto Sans CJK SC"/>
              </a:rPr>
              <a:t>让</a:t>
            </a:r>
            <a:r>
              <a:rPr lang="en-US" sz="4800" b="1">
                <a:solidFill>
                  <a:srgbClr val="F1F5F9"/>
                </a:solidFill>
                <a:latin typeface="Noto Sans CJK SC"/>
                <a:ea typeface="Noto Sans CJK SC"/>
              </a:rPr>
              <a:t> Agent </a:t>
            </a:r>
            <a:r>
              <a:rPr lang="zh-CN" sz="4800" b="1">
                <a:solidFill>
                  <a:srgbClr val="F1F5F9"/>
                </a:solidFill>
                <a:latin typeface="Noto Sans CJK SC"/>
                <a:ea typeface="Noto Sans CJK SC"/>
              </a:rPr>
              <a:t>越用越强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4162425"/>
            <a:ext cx="106680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94A3B8"/>
                </a:solidFill>
                <a:latin typeface="Noto Sans CJK SC"/>
                <a:ea typeface="Noto Sans CJK SC"/>
              </a:rPr>
              <a:t>业务</a:t>
            </a:r>
            <a:r>
              <a:rPr lang="en-US" sz="1650">
                <a:solidFill>
                  <a:srgbClr val="94A3B8"/>
                </a:solidFill>
                <a:latin typeface="Noto Sans CJK SC"/>
                <a:ea typeface="Noto Sans CJK SC"/>
              </a:rPr>
              <a:t> Loop </a:t>
            </a:r>
            <a:r>
              <a:rPr lang="zh-CN" sz="1650">
                <a:solidFill>
                  <a:srgbClr val="94A3B8"/>
                </a:solidFill>
                <a:latin typeface="Noto Sans CJK SC"/>
                <a:ea typeface="Noto Sans CJK SC"/>
              </a:rPr>
              <a:t>全链路解读：数据稳定准确</a:t>
            </a:r>
            <a:r>
              <a:rPr lang="en-US" sz="1650">
                <a:solidFill>
                  <a:srgbClr val="94A3B8"/>
                </a:solidFill>
                <a:latin typeface="Noto Sans CJK SC"/>
                <a:ea typeface="Noto Sans CJK SC"/>
              </a:rPr>
              <a:t> · </a:t>
            </a:r>
            <a:r>
              <a:rPr lang="zh-CN" sz="1650">
                <a:solidFill>
                  <a:srgbClr val="94A3B8"/>
                </a:solidFill>
                <a:latin typeface="Noto Sans CJK SC"/>
                <a:ea typeface="Noto Sans CJK SC"/>
              </a:rPr>
              <a:t>数据循环</a:t>
            </a:r>
            <a:r>
              <a:rPr lang="en-US" sz="1650">
                <a:solidFill>
                  <a:srgbClr val="94A3B8"/>
                </a:solidFill>
                <a:latin typeface="Noto Sans CJK SC"/>
                <a:ea typeface="Noto Sans CJK SC"/>
              </a:rPr>
              <a:t> · </a:t>
            </a:r>
            <a:r>
              <a:rPr lang="zh-CN" sz="1650">
                <a:solidFill>
                  <a:srgbClr val="94A3B8"/>
                </a:solidFill>
                <a:latin typeface="Noto Sans CJK SC"/>
                <a:ea typeface="Noto Sans CJK SC"/>
              </a:rPr>
              <a:t>数据学习</a:t>
            </a:r>
            <a:r>
              <a:rPr lang="en-US" sz="1650">
                <a:solidFill>
                  <a:srgbClr val="94A3B8"/>
                </a:solidFill>
                <a:latin typeface="Noto Sans CJK SC"/>
                <a:ea typeface="Noto Sans CJK SC"/>
              </a:rPr>
              <a:t> · </a:t>
            </a:r>
            <a:r>
              <a:rPr lang="zh-CN" sz="1650">
                <a:solidFill>
                  <a:srgbClr val="94A3B8"/>
                </a:solidFill>
                <a:latin typeface="Noto Sans CJK SC"/>
                <a:ea typeface="Noto Sans CJK SC"/>
              </a:rPr>
              <a:t>持续成长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762000" y="5143500"/>
            <a:ext cx="6858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1600200" y="506730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面向客户的产品全景宣讲</a:t>
            </a:r>
            <a:endParaRPr/>
          </a:p>
        </p:txBody>
      </p:sp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78" name="" descr="&lt;Slide style={{ width: '1280px', height: '720px', background: '#0F172A', padding: '20px 64px', fontFamily: 'Noto Sans CJK SC, PingFang SC, Helvetica Neue, sans-serif' }}&gt;&#10;  {/* A 标题块 */}&#10;  &lt;Box style={{ height: 100, flexDirection: 'row', alignItems: 'center', gap: 16 }}&gt;&#10;    &lt;Box style={{ width: 8, height: 48, background: 'linear-gradient(180deg, #3B82F6 0%, #22D3EE 100%)', borderRadius: 4 }} /&gt;&#10;    &lt;Box&gt;&#10;      &lt;Text style={{ fontSize: 36, fontWeight: 'bold', color: '#F1F5F9' }}&gt;为什么 AI 总是&quot;用完即弃&quot;？&lt;/Text&gt;&#10;      &lt;Text style={{ fontSize: 16, color: '#94A3B8', marginTop: 6 }}&gt;企业引入 AI 后最常见的三个困境&lt;/Text&gt;&#10;    &lt;/Box&gt;&#10;  &lt;/Box&gt;&#10;  {/* B 内容区：左标题 + 右内容 */}&#10;  &lt;Box style={{ height: 520, flexDirection: 'row', gap: 32 }}&gt;&#10;    {/* 左侧标题栏 32% */}&#10;    &lt;Box style={{ width: '32%', background: '#1E293B', borderRadius: 16, padding: 36, border: '1px solid rgba(148,163,184,0.25)', flexDirection: 'column', justifyContent: 'space-between' }}&gt;&#10;      &lt;Box&gt;&#10;        &lt;Text style={{ fontSize: 26, fontWeight: 'bold', color: '#F1F5F9', lineHeight: 1.5 }}&gt;AI 能干活，&lt;br /&gt;但干得&lt;span style={{ color: '#F59E0B' }}&gt;不长久&lt;/span&gt;、&lt;br /&gt;留得&lt;span style={{ color: '#F59E0B' }}&gt;不下来&lt;/span&gt;&lt;/Text&gt;&#10;        &lt;Text style={{ fontSize: 18, color: '#94A3B8', lineHeight: 1.7, marginTop: 24 }}&gt;绝大多数 AI 产品的循环，止于&quot;任务完成&quot;——而不是止于&quot;场景沉淀&quot;。&lt;/Text&gt;&#10;      &lt;/Box&gt;&#10;      &lt;Box style={{ marginTop: 'auto', paddingTop: 20, borderTop: '1px solid rgba(148,163,184,0.25)' }}&gt;&#10;        &lt;Text style={{ fontSize: 16, color: '#22D3EE', lineHeight: 1.6 }}&gt;业务 Loop 要解决的，&lt;br /&gt;正是这三个&quot;不闭环&quot;。&lt;/Text&gt;&#10;      &lt;/Box&gt;&#10;    &lt;/Box&gt;&#10;    {/* 右侧三痛点纵向列表 */}&#10;    &lt;Box style={{ flex: 1, flexDirection: 'column', gap: 20 }}&gt;&#10;      &lt;Box style={{ flex: 1, background: 'rgba(59,130,246,0.10)', borderRadius: 16, padding: '24px 32px', border: '1px solid rgba(148,163,184,0.25)', flexDirection: 'row', gap: 24, alignItems: 'center' }}&gt;&#10;        &lt;Box style={{ width: 64, height: 64, borderRadius: 16, background: 'rgba(245,158,11,0.15)', justifyContent: 'center', alignItems: 'center' }}&gt;&#10;          &lt;FAIcon name=&quot;exclamation-circle&quot; style={{ fill: '#F59E0B', width: 32, height: 32 }} /&gt;&#10;        &lt;/Box&gt;&#10;        &lt;Box style={{ flex: 1 }}&gt;&#10;          &lt;Text style={{ fontSize: 24, fontWeight: 'bold', color: '#F1F5F9' }}&gt;数据不敢信&lt;/Text&gt;&#10;          &lt;Text style={{ fontSize: 17, color: '#94A3B8', lineHeight: 1.6, marginTop: 8 }}&gt;同一份报表两个数字，口径谁也说不清。AI 给的数据没有出处，不敢直接拿去汇报、更不敢拿来决策。&lt;/Text&gt;&#10;        &lt;/Box&gt;&#10;      &lt;/Box&gt;&#10;      &lt;Box style={{ flex: 1, background: 'rgba(59,130,246,0.10)', borderRadius: 16, padding: '24px 32px', border: '1px solid rgba(148,163,184,0.25)', flexDirection: 'row', gap: 24, alignItems: 'center' }}&gt;&#10;        &lt;Box style={{ width: 64, height: 64, borderRadius: 16, background: 'rgba(59,130,246,0.18)', justifyContent: 'center', alignItems: 'center' }}&gt;&#10;          &lt;FAIcon name=&quot;times-circle&quot; style={{ fill: '#3B82F6', width: 32, height: 32 }} /&gt;&#10;        &lt;/Box&gt;&#10;        &lt;Box style={{ flex: 1 }}&gt;&#10;          &lt;Text style={{ fontSize: 24, fontWeight: 'bold', color: '#F1F5F9' }}&gt;任务一次性&lt;/Text&gt;&#10;          &lt;Text style={{ fontSize: 17, color: '#94A3B8', lineHeight: 1.6, marginTop: 8 }}&gt;每次对话从零开始，任务结束一切蒸发。月报这个月做完了，下个月还得重新教一遍。&lt;/Text&gt;&#10;        &lt;/Box&gt;&#10;      &lt;/Box&gt;&#10;      &lt;Box style={{ flex: 1, background: 'rgba(59,130,246,0.10)', borderRadius: 16, padding: '24px 32px', border: '1px solid rgba(148,163,184,0.25)', flexDirection: 'row', gap: 24, alignItems: 'center' }}&gt;&#10;        &lt;Box style={{ width: 64, height: 64, borderRadius: 16, background: 'rgba(34,211,238,0.15)', justifyContent: 'center', alignItems: 'center' }}&gt;&#10;          &lt;FAIcon name=&quot;folder-open&quot; style={{ fill: '#22D3EE', width: 32, height: 32 }} /&gt;&#10;        &lt;/Box&gt;&#10;        &lt;Box style={{ flex: 1 }}&gt;&#10;          &lt;Text style={{ fontSize: 24, fontWeight: 'bold', color: '#F1F5F9' }}&gt;经验不沉淀&lt;/Text&gt;&#10;          &lt;Text style={{ fontSize: 17, color: '#94A3B8', lineHeight: 1.6, marginTop: 8 }}&gt;老师傅的经验在人脑里，AI 做好的方案留在聊天记录里。人一走、窗一关，团队资产毫无变厚。&lt;/Text&gt;&#10;        &lt;/Box&gt;&#10;      &lt;/Box&gt;&#10;    &lt;/Box&gt;&#10;  &lt;/Box&gt;&#10;  {/* C 页脚条 */}&#10;  &lt;Box style={{ height: 60, flexDirection: 'row', justifyContent: 'space-between', alignItems: 'center' }}&gt;&#10;    &lt;Text style={{ fontSize: 14, color: '#94A3B8' }}&gt;Gyra · 业务场景 Loop&lt;/Text&gt;&#10;    &lt;Text style={{ fontSize: 14, color: '#94A3B8' }}&gt;02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609600" y="438150"/>
            <a:ext cx="76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38200" y="333375"/>
            <a:ext cx="43148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为什么</a:t>
            </a:r>
            <a:r>
              <a:rPr lang="en-US" sz="2700" b="1">
                <a:solidFill>
                  <a:srgbClr val="F1F5F9"/>
                </a:solidFill>
                <a:latin typeface="Noto Sans CJK SC"/>
                <a:ea typeface="Noto Sans CJK SC"/>
              </a:rPr>
              <a:t> AI </a:t>
            </a: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总是</a:t>
            </a:r>
            <a:r>
              <a:rPr lang="en-US" sz="2700" b="1">
                <a:solidFill>
                  <a:srgbClr val="F1F5F9"/>
                </a:solidFill>
                <a:latin typeface="Noto Sans CJK SC"/>
                <a:ea typeface="Noto Sans CJK SC"/>
              </a:rPr>
              <a:t>"</a:t>
            </a: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用完即弃</a:t>
            </a:r>
            <a:r>
              <a:rPr lang="en-US" sz="2700" b="1">
                <a:solidFill>
                  <a:srgbClr val="F1F5F9"/>
                </a:solidFill>
                <a:latin typeface="Noto Sans CJK SC"/>
                <a:ea typeface="Noto Sans CJK SC"/>
              </a:rPr>
              <a:t>"</a:t>
            </a: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？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38200" y="809625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企业引入</a:t>
            </a:r>
            <a:r>
              <a:rPr lang="en-US" sz="1200">
                <a:solidFill>
                  <a:srgbClr val="94A3B8"/>
                </a:solidFill>
                <a:latin typeface="Noto Sans CJK SC"/>
                <a:ea typeface="Noto Sans CJK SC"/>
              </a:rPr>
              <a:t> AI </a:t>
            </a: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后最常见的三个困境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09600" y="1143000"/>
            <a:ext cx="3514725" cy="4953000"/>
          </a:xfrm>
          <a:prstGeom prst="roundRect">
            <a:avLst>
              <a:gd name="adj" fmla="val 4336"/>
            </a:avLst>
          </a:prstGeom>
          <a:solidFill>
            <a:srgbClr val="1E293B"/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52500" y="1485900"/>
            <a:ext cx="2828925" cy="1343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 b="1">
                <a:solidFill>
                  <a:srgbClr val="F1F5F9"/>
                </a:solidFill>
                <a:latin typeface="Noto Sans CJK SC"/>
                <a:ea typeface="Noto Sans CJK SC"/>
              </a:rPr>
              <a:t>AI </a:t>
            </a:r>
            <a:r>
              <a:rPr lang="zh-CN" sz="1950" b="1">
                <a:solidFill>
                  <a:srgbClr val="F1F5F9"/>
                </a:solidFill>
                <a:latin typeface="Noto Sans CJK SC"/>
                <a:ea typeface="Noto Sans CJK SC"/>
              </a:rPr>
              <a:t>能干活，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1F5F9"/>
                </a:solidFill>
                <a:latin typeface="Noto Sans CJK SC"/>
                <a:ea typeface="Noto Sans CJK SC"/>
              </a:rPr>
              <a:t>但干得</a:t>
            </a:r>
            <a:r>
              <a:rPr lang="zh-CN" sz="1950" b="1">
                <a:solidFill>
                  <a:srgbClr val="F59E0B"/>
                </a:solidFill>
                <a:latin typeface="Noto Sans CJK SC"/>
                <a:ea typeface="Noto Sans CJK SC"/>
              </a:rPr>
              <a:t>不长久</a:t>
            </a:r>
            <a:r>
              <a:rPr lang="zh-CN" sz="1950" b="1">
                <a:solidFill>
                  <a:srgbClr val="F1F5F9"/>
                </a:solidFill>
                <a:latin typeface="Noto Sans CJK SC"/>
                <a:ea typeface="Noto Sans CJK SC"/>
              </a:rPr>
              <a:t>、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F1F5F9"/>
                </a:solidFill>
                <a:latin typeface="Noto Sans CJK SC"/>
                <a:ea typeface="Noto Sans CJK SC"/>
              </a:rPr>
              <a:t>留得</a:t>
            </a:r>
            <a:r>
              <a:rPr lang="zh-CN" sz="1950" b="1">
                <a:solidFill>
                  <a:srgbClr val="F59E0B"/>
                </a:solidFill>
                <a:latin typeface="Noto Sans CJK SC"/>
                <a:ea typeface="Noto Sans CJK SC"/>
              </a:rPr>
              <a:t>不下来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52500" y="3057525"/>
            <a:ext cx="282892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94A3B8"/>
                </a:solidFill>
                <a:latin typeface="Noto Sans CJK SC"/>
                <a:ea typeface="Noto Sans CJK SC"/>
              </a:rPr>
              <a:t>绝大多数</a:t>
            </a:r>
            <a:r>
              <a:rPr lang="en-US" sz="1350">
                <a:solidFill>
                  <a:srgbClr val="94A3B8"/>
                </a:solidFill>
                <a:latin typeface="Noto Sans CJK SC"/>
                <a:ea typeface="Noto Sans CJK SC"/>
              </a:rPr>
              <a:t> AI </a:t>
            </a:r>
            <a:r>
              <a:rPr lang="zh-CN" sz="1350">
                <a:solidFill>
                  <a:srgbClr val="94A3B8"/>
                </a:solidFill>
                <a:latin typeface="Noto Sans CJK SC"/>
                <a:ea typeface="Noto Sans CJK SC"/>
              </a:rPr>
              <a:t>产品的循环，止于</a:t>
            </a:r>
            <a:r>
              <a:rPr lang="en-US" sz="1350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350">
                <a:solidFill>
                  <a:srgbClr val="94A3B8"/>
                </a:solidFill>
                <a:latin typeface="Noto Sans CJK SC"/>
                <a:ea typeface="Noto Sans CJK SC"/>
              </a:rPr>
              <a:t>任务完成</a:t>
            </a:r>
            <a:r>
              <a:rPr lang="en-US" sz="1350">
                <a:solidFill>
                  <a:srgbClr val="94A3B8"/>
                </a:solidFill>
                <a:latin typeface="Noto Sans CJK SC"/>
                <a:ea typeface="Noto Sans CJK SC"/>
              </a:rPr>
              <a:t>"——</a:t>
            </a:r>
            <a:r>
              <a:rPr lang="zh-CN" sz="1350">
                <a:solidFill>
                  <a:srgbClr val="94A3B8"/>
                </a:solidFill>
                <a:latin typeface="Noto Sans CJK SC"/>
                <a:ea typeface="Noto Sans CJK SC"/>
              </a:rPr>
              <a:t>而不是止于</a:t>
            </a:r>
            <a:r>
              <a:rPr lang="en-US" sz="1350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350">
                <a:solidFill>
                  <a:srgbClr val="94A3B8"/>
                </a:solidFill>
                <a:latin typeface="Noto Sans CJK SC"/>
                <a:ea typeface="Noto Sans CJK SC"/>
              </a:rPr>
              <a:t>场景沉淀</a:t>
            </a:r>
            <a:r>
              <a:rPr lang="en-US" sz="1350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350">
                <a:solidFill>
                  <a:srgbClr val="94A3B8"/>
                </a:solidFill>
                <a:latin typeface="Noto Sans CJK SC"/>
                <a:ea typeface="Noto Sans CJK SC"/>
              </a:rPr>
              <a:t>。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952500" y="4962525"/>
            <a:ext cx="2828925" cy="800100"/>
          </a:xfrm>
          <a:custGeom>
            <a:pathLst>
              <a:path w="297" h="84">
                <a:moveTo>
                  <a:pt x="0" y="0"/>
                </a:moveTo>
                <a:lnTo>
                  <a:pt x="297" y="0"/>
                </a:lnTo>
                <a:lnTo>
                  <a:pt x="297" y="1"/>
                </a:lnTo>
                <a:lnTo>
                  <a:pt x="0" y="1"/>
                </a:lnTo>
                <a:close/>
              </a:path>
            </a:pathLst>
          </a:custGeom>
          <a:solidFill>
            <a:srgbClr val="94A3B8">
              <a:alpha val="25000"/>
            </a:srgbClr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52500" y="5162550"/>
            <a:ext cx="2828925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22D3EE"/>
                </a:solidFill>
                <a:latin typeface="Noto Sans CJK SC"/>
                <a:ea typeface="Noto Sans CJK SC"/>
              </a:rPr>
              <a:t>业务</a:t>
            </a:r>
            <a:r>
              <a:rPr lang="en-US" sz="1200">
                <a:solidFill>
                  <a:srgbClr val="22D3EE"/>
                </a:solidFill>
                <a:latin typeface="Noto Sans CJK SC"/>
                <a:ea typeface="Noto Sans CJK SC"/>
              </a:rPr>
              <a:t> Loop </a:t>
            </a:r>
            <a:r>
              <a:rPr lang="zh-CN" sz="1200">
                <a:solidFill>
                  <a:srgbClr val="22D3EE"/>
                </a:solidFill>
                <a:latin typeface="Noto Sans CJK SC"/>
                <a:ea typeface="Noto Sans CJK SC"/>
              </a:rPr>
              <a:t>要解决的，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22D3EE"/>
                </a:solidFill>
                <a:latin typeface="Noto Sans CJK SC"/>
                <a:ea typeface="Noto Sans CJK SC"/>
              </a:rPr>
              <a:t>正是这三个</a:t>
            </a:r>
            <a:r>
              <a:rPr lang="en-US" sz="1200">
                <a:solidFill>
                  <a:srgbClr val="22D3EE"/>
                </a:solidFill>
                <a:latin typeface="Noto Sans CJK SC"/>
                <a:ea typeface="Noto Sans CJK SC"/>
              </a:rPr>
              <a:t>"</a:t>
            </a:r>
            <a:r>
              <a:rPr lang="zh-CN" sz="1200">
                <a:solidFill>
                  <a:srgbClr val="22D3EE"/>
                </a:solidFill>
                <a:latin typeface="Noto Sans CJK SC"/>
                <a:ea typeface="Noto Sans CJK SC"/>
              </a:rPr>
              <a:t>不闭环</a:t>
            </a:r>
            <a:r>
              <a:rPr lang="en-US" sz="1200">
                <a:solidFill>
                  <a:srgbClr val="22D3EE"/>
                </a:solidFill>
                <a:latin typeface="Noto Sans CJK SC"/>
                <a:ea typeface="Noto Sans CJK SC"/>
              </a:rPr>
              <a:t>"</a:t>
            </a:r>
            <a:r>
              <a:rPr lang="zh-CN" sz="1200">
                <a:solidFill>
                  <a:srgbClr val="22D3EE"/>
                </a:solidFill>
                <a:latin typeface="Noto Sans CJK SC"/>
                <a:ea typeface="Noto Sans CJK SC"/>
              </a:rPr>
              <a:t>。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429125" y="1143000"/>
            <a:ext cx="7153275" cy="1524000"/>
          </a:xfrm>
          <a:prstGeom prst="roundRect">
            <a:avLst>
              <a:gd name="adj" fmla="val 100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4733925" y="16002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pic>
        <p:nvPicPr>
          <p:cNvPr id="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886325" y="1752600"/>
            <a:ext cx="304800" cy="304800"/>
          </a:xfrm>
          <a:prstGeom prst="rect">
            <a:avLst/>
          </a:prstGeom>
          <a:ln/>
        </p:spPr>
      </p:pic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572125" y="1419225"/>
            <a:ext cx="5705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1F5F9"/>
                </a:solidFill>
                <a:latin typeface="Noto Sans CJK SC"/>
                <a:ea typeface="Noto Sans CJK SC"/>
              </a:rPr>
              <a:t>数据不敢信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572125" y="1771650"/>
            <a:ext cx="57054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Noto Sans CJK SC"/>
                <a:ea typeface="Noto Sans CJK SC"/>
              </a:rPr>
              <a:t>同一份报表两个数字，口径谁也说不清。</a:t>
            </a:r>
            <a:r>
              <a:rPr lang="en-US" sz="1275">
                <a:solidFill>
                  <a:srgbClr val="94A3B8"/>
                </a:solidFill>
                <a:latin typeface="Noto Sans CJK SC"/>
                <a:ea typeface="Noto Sans CJK SC"/>
              </a:rPr>
              <a:t>AI </a:t>
            </a:r>
            <a:r>
              <a:rPr lang="zh-CN" sz="1275">
                <a:solidFill>
                  <a:srgbClr val="94A3B8"/>
                </a:solidFill>
                <a:latin typeface="Noto Sans CJK SC"/>
                <a:ea typeface="Noto Sans CJK SC"/>
              </a:rPr>
              <a:t>给的数据没有出处，不敢直接拿去汇报、更不敢拿来决策。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429125" y="2857500"/>
            <a:ext cx="7153275" cy="1524000"/>
          </a:xfrm>
          <a:prstGeom prst="roundRect">
            <a:avLst>
              <a:gd name="adj" fmla="val 100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4733925" y="33147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3B82F6">
              <a:alpha val="18000"/>
            </a:srgbClr>
          </a:solidFill>
          <a:ln/>
        </p:spPr>
        <p:txBody>
          <a:bodyPr/>
          <a:p/>
        </p:txBody>
      </p:sp>
      <p:pic>
        <p:nvPicPr>
          <p:cNvPr id="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886325" y="3467100"/>
            <a:ext cx="304800" cy="304800"/>
          </a:xfrm>
          <a:prstGeom prst="rect">
            <a:avLst/>
          </a:prstGeom>
          <a:ln/>
        </p:spPr>
      </p:pic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572125" y="3133725"/>
            <a:ext cx="5705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1F5F9"/>
                </a:solidFill>
                <a:latin typeface="Noto Sans CJK SC"/>
                <a:ea typeface="Noto Sans CJK SC"/>
              </a:rPr>
              <a:t>任务一次性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572125" y="3486150"/>
            <a:ext cx="57054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Noto Sans CJK SC"/>
                <a:ea typeface="Noto Sans CJK SC"/>
              </a:rPr>
              <a:t>每次对话从零开始，任务结束一切蒸发。月报这个月做完了，下个月还得重新教一遍。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4429125" y="4572000"/>
            <a:ext cx="7153275" cy="1524000"/>
          </a:xfrm>
          <a:prstGeom prst="roundRect">
            <a:avLst>
              <a:gd name="adj" fmla="val 100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4733925" y="5029200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22D3EE">
              <a:alpha val="15000"/>
            </a:srgbClr>
          </a:solidFill>
          <a:ln/>
        </p:spPr>
        <p:txBody>
          <a:bodyPr/>
          <a:p/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886325" y="5181600"/>
            <a:ext cx="304800" cy="304800"/>
          </a:xfrm>
          <a:prstGeom prst="rect">
            <a:avLst/>
          </a:prstGeom>
          <a:ln/>
        </p:spPr>
      </p:pic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572125" y="4848225"/>
            <a:ext cx="5705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1F5F9"/>
                </a:solidFill>
                <a:latin typeface="Noto Sans CJK SC"/>
                <a:ea typeface="Noto Sans CJK SC"/>
              </a:rPr>
              <a:t>经验不沉淀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572125" y="5200650"/>
            <a:ext cx="57054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Noto Sans CJK SC"/>
                <a:ea typeface="Noto Sans CJK SC"/>
              </a:rPr>
              <a:t>老师傅的经验在人脑里，</a:t>
            </a:r>
            <a:r>
              <a:rPr lang="en-US" sz="1275">
                <a:solidFill>
                  <a:srgbClr val="94A3B8"/>
                </a:solidFill>
                <a:latin typeface="Noto Sans CJK SC"/>
                <a:ea typeface="Noto Sans CJK SC"/>
              </a:rPr>
              <a:t>AI </a:t>
            </a:r>
            <a:r>
              <a:rPr lang="zh-CN" sz="1275">
                <a:solidFill>
                  <a:srgbClr val="94A3B8"/>
                </a:solidFill>
                <a:latin typeface="Noto Sans CJK SC"/>
                <a:ea typeface="Noto Sans CJK SC"/>
              </a:rPr>
              <a:t>做好的方案留在聊天记录里。人一走、窗一关，团队资产毫无变厚。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34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Gyra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业务场景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Loop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02 / 12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5" name="" descr="&lt;Slide style={{ width: '1280px', height: '720px', background: '#0F172A', padding: '20px 64px', fontFamily: 'Noto Sans CJK SC, PingFang SC, Helvetica Neue, sans-serif' }}&gt;&#10;  {/* A 标题块 */}&#10;  &lt;Box style={{ height: 100, flexDirection: 'row', alignItems: 'center', gap: 16 }}&gt;&#10;    &lt;Box style={{ width: 8, height: 48, background: 'linear-gradient(180deg, #3B82F6 0%, #22D3EE 100%)', borderRadius: 4 }} /&gt;&#10;    &lt;Box&gt;&#10;      &lt;Text style={{ fontSize: 36, fontWeight: 'bold', color: '#F1F5F9' }}&gt;一图看懂：业务 Loop 六步飞轮&lt;/Text&gt;&#10;      &lt;Text style={{ fontSize: 16, color: '#94A3B8', marginTop: 6 }}&gt;事件驱动、持续运转，飞轮中心是北极星指标&quot;沉淀厚度&quot;&lt;/Text&gt;&#10;    &lt;/Box&gt;&#10;  &lt;/Box&gt;&#10;  {/* B 内容区：左大图 62% + 右侧六步 */}&#10;  &lt;Box style={{ height: 520, flexDirection: 'row', gap: 32, alignItems: 'center' }}&gt;&#10;    &lt;Box style={{ width: '62%', flexDirection: 'column', gap: 16 }}&gt;&#10;      &lt;Image src=&quot;resources/images/l3_loop.jpg&quot; style={{ width: '100%', height: 356, objectFit: 'cover', borderRadius: 16, border: '1px solid rgba(148,163,184,0.25)' }} /&gt;&#10;      &lt;Box style={{ background: 'rgba(245,158,11,0.10)', border: '1px solid rgba(245,158,11,0.35)', borderRadius: 12, padding: '12px 20px', flexDirection: 'row', alignItems: 'center', gap: 12 }}&gt;&#10;        &lt;FAIcon name=&quot;star&quot; style={{ fill: '#F59E0B', width: 20, height: 20 }} /&gt;&#10;        &lt;Text style={{ fontSize: 16, color: '#F1F5F9' }}&gt;飞轮不是转一圈就停——&lt;span style={{ color: '#F59E0B', fontWeight: 'bold' }}&gt;每转一圈，场景空间就厚一层&lt;/span&gt;&lt;/Text&gt;&#10;      &lt;/Box&gt;&#10;    &lt;/Box&gt;&#10;    &lt;Box style={{ flex: 1, flexDirection: 'column', gap: 12 }}&gt;&#10;      &lt;Box style={{ flexDirection: 'row', gap: 14, alignItems: 'center' }}&gt;&#10;        &lt;Box style={{ width: 34, height: 34, borderRadius: 17, background: '#3B82F6', justifyContent: 'center', alignItems: 'center' }}&gt;&lt;Text style={{ fontSize: 16, fontWeight: 'bold', color: '#F1F5F9' }}&gt;1&lt;/Text&gt;&lt;/Box&gt;&#10;        &lt;Box&gt;&lt;Text style={{ fontSize: 19, fontWeight: 'bold', color: '#F1F5F9' }}&gt;触发 · 持续监听&lt;/Text&gt;&lt;Text style={{ fontSize: 14, color: '#94A3B8' }}&gt;定时 / 告警 / Webhook / 手动，不等指令&lt;/Text&gt;&lt;/Box&gt;&#10;      &lt;/Box&gt;&#10;      &lt;Box style={{ flexDirection: 'row', gap: 14, alignItems: 'center' }}&gt;&#10;        &lt;Box style={{ width: 34, height: 34, borderRadius: 17, background: '#3B82F6', justifyContent: 'center', alignItems: 'center' }}&gt;&lt;Text style={{ fontSize: 16, fontWeight: 'bold', color: '#F1F5F9' }}&gt;2&lt;/Text&gt;&lt;/Box&gt;&#10;        &lt;Box&gt;&lt;Text style={{ fontSize: 19, fontWeight: 'bold', color: '#F1F5F9' }}&gt;任务 · 自动创建&lt;/Text&gt;&lt;Text style={{ fontSize: 14, color: '#94A3B8' }}&gt;事件一到，任务即刻生成并启动&lt;/Text&gt;&lt;/Box&gt;&#10;      &lt;/Box&gt;&#10;      &lt;Box style={{ flexDirection: 'row', gap: 14, alignItems: 'center' }}&gt;&#10;        &lt;Box style={{ width: 34, height: 34, borderRadius: 17, background: '#22D3EE', justifyContent: 'center', alignItems: 'center' }}&gt;&lt;Text style={{ fontSize: 16, fontWeight: 'bold', color: '#0F172A' }}&gt;3&lt;/Text&gt;&lt;/Box&gt;&#10;        &lt;Box&gt;&lt;Text style={{ fontSize: 19, fontWeight: 'bold', color: '#F1F5F9' }}&gt;剧本 · 声明执行&lt;/Text&gt;&lt;Text style={{ fontSize: 14, color: '#94A3B8' }}&gt;只定约束与产出，怎么做 Agent 自己定&lt;/Text&gt;&lt;/Box&gt;&#10;      &lt;/Box&gt;&#10;      &lt;Box style={{ flexDirection: 'row', gap: 14, alignItems: 'center' }}&gt;&#10;        &lt;Box style={{ width: 34, height: 34, borderRadius: 17, background: '#22D3EE', justifyContent: 'center', alignItems: 'center' }}&gt;&lt;Text style={{ fontSize: 16, fontWeight: 'bold', color: '#0F172A' }}&gt;4&lt;/Text&gt;&lt;/Box&gt;&#10;        &lt;Box&gt;&lt;Text style={{ fontSize: 19, fontWeight: 'bold', color: '#F1F5F9' }}&gt;产出 · 真实交付物&lt;/Text&gt;&lt;Text style={{ fontSize: 14, color: '#94A3B8' }}&gt;报告、看板、操作计划，不是聊天消息&lt;/Text&gt;&lt;/Box&gt;&#10;      &lt;/Box&gt;&#10;      &lt;Box style={{ flexDirection: 'row', gap: 14, alignItems: 'center' }}&gt;&#10;        &lt;Box style={{ width: 34, height: 34, borderRadius: 17, background: '#F59E0B', justifyContent: 'center', alignItems: 'center' }}&gt;&lt;Text style={{ fontSize: 16, fontWeight: 'bold', color: '#0F172A' }}&gt;5&lt;/Text&gt;&lt;/Box&gt;&#10;        &lt;Box&gt;&lt;Text style={{ fontSize: 19, fontWeight: 'bold', color: '#F1F5F9' }}&gt;交付 · 四种命运&lt;/Text&gt;&lt;Text style={{ fontSize: 14, color: '#94A3B8' }}&gt;通知 / 发布 / 执行 / 托管，各得其所&lt;/Text&gt;&lt;/Box&gt;&#10;      &lt;/Box&gt;&#10;      &lt;Box style={{ flexDirection: 'row', gap: 14, alignItems: 'center' }}&gt;&#10;        &lt;Box style={{ width: 34, height: 34, borderRadius: 17, background: '#F59E0B', justifyContent: 'center', alignItems: 'center' }}&gt;&lt;Text style={{ fontSize: 16, fontWeight: 'bold', color: '#0F172A' }}&gt;6&lt;/Text&gt;&lt;/Box&gt;&#10;        &lt;Box&gt;&lt;Text style={{ fontSize: 19, fontWeight: 'bold', color: '#F1F5F9' }}&gt;沉淀 · 反哺下一轮&lt;/Text&gt;&lt;Text style={{ fontSize: 14, color: '#94A3B8' }}&gt;产出变资产，驱动飞轮继续加速&lt;/Text&gt;&lt;/Box&gt;&#10;      &lt;/Box&gt;&#10;    &lt;/Box&gt;&#10;  &lt;/Box&gt;&#10;  {/* C 页脚条 */}&#10;  &lt;Box style={{ height: 60, flexDirection: 'row', justifyContent: 'space-between', alignItems: 'center' }}&gt;&#10;    &lt;Text style={{ fontSize: 14, color: '#94A3B8' }}&gt;Gyra · 业务场景 Loop&lt;/Text&gt;&#10;    &lt;Text style={{ fontSize: 14, color: '#94A3B8' }}&gt;03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609600" y="438150"/>
            <a:ext cx="76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38200" y="333375"/>
            <a:ext cx="482917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一图看懂：业务</a:t>
            </a:r>
            <a:r>
              <a:rPr lang="en-US" sz="2700" b="1">
                <a:solidFill>
                  <a:srgbClr val="F1F5F9"/>
                </a:solidFill>
                <a:latin typeface="Noto Sans CJK SC"/>
                <a:ea typeface="Noto Sans CJK SC"/>
              </a:rPr>
              <a:t> Loop </a:t>
            </a: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六步飞轮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38200" y="809625"/>
            <a:ext cx="4829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事件驱动、持续运转，飞轮中心是北极星指标</a:t>
            </a:r>
            <a:r>
              <a:rPr lang="en-US" sz="1200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沉淀厚度</a:t>
            </a:r>
            <a:r>
              <a:rPr lang="en-US" sz="1200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09600" y="1638300"/>
            <a:ext cx="6800850" cy="3390900"/>
          </a:xfrm>
          <a:prstGeom prst="rect">
            <a:avLst/>
          </a:prstGeom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1" name=""/>
          <p:cNvPicPr>
            <a:picLocks noChangeAspect="1"/>
          </p:cNvPicPr>
          <p:nvPr/>
        </p:nvPicPr>
        <p:blipFill>
          <a:blip r:embed="rId1"/>
          <a:srcRect l="0" t="62" r="0" b="62"/>
          <a:stretch>
            <a:fillRect/>
          </a:stretch>
        </p:blipFill>
        <p:spPr>
          <a:xfrm rot="0" flipH="0" flipV="0">
            <a:off x="609600" y="1638300"/>
            <a:ext cx="6800850" cy="3390900"/>
          </a:xfrm>
          <a:prstGeom prst="roundRect">
            <a:avLst>
              <a:gd name="adj" fmla="val 4494"/>
            </a:avLst>
          </a:prstGeom>
          <a:ln/>
        </p:spPr>
      </p:pic>
      <p:sp>
        <p:nvSpPr>
          <p:cNvPr id="112" name=""/>
          <p:cNvSpPr/>
          <p:nvPr/>
        </p:nvSpPr>
        <p:spPr>
          <a:xfrm rot="0" flipH="0" flipV="0">
            <a:off x="609600" y="5181600"/>
            <a:ext cx="6800850" cy="419100"/>
          </a:xfrm>
          <a:prstGeom prst="roundRect">
            <a:avLst>
              <a:gd name="adj" fmla="val 2727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0100" y="5295900"/>
            <a:ext cx="190500" cy="190500"/>
          </a:xfrm>
          <a:prstGeom prst="rect">
            <a:avLst/>
          </a:prstGeom>
          <a:ln/>
        </p:spPr>
      </p:pic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04900" y="5295900"/>
            <a:ext cx="3657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1F5F9"/>
                </a:solidFill>
                <a:latin typeface="Noto Sans CJK SC"/>
                <a:ea typeface="Noto Sans CJK SC"/>
              </a:rPr>
              <a:t>飞轮不是转一圈就停——</a:t>
            </a:r>
            <a:r>
              <a:rPr lang="zh-CN" sz="1200" b="1">
                <a:solidFill>
                  <a:srgbClr val="F59E0B"/>
                </a:solidFill>
                <a:latin typeface="Noto Sans CJK SC"/>
                <a:ea typeface="Noto Sans CJK SC"/>
              </a:rPr>
              <a:t>每转一圈，场景空间就厚一层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7715250" y="22193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848600" y="2286000"/>
            <a:ext cx="66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1F5F9"/>
                </a:solidFill>
                <a:latin typeface="Noto Sans CJK SC"/>
                <a:ea typeface="Noto Sans CJK SC"/>
              </a:rPr>
              <a:t>1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172450" y="2190750"/>
            <a:ext cx="2514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触发</a:t>
            </a: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 ·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持续监听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172450" y="2409825"/>
            <a:ext cx="2514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定时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/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告警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/ Webhook /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手动，不等指令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7715250" y="27146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829550" y="27813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1F5F9"/>
                </a:solidFill>
                <a:latin typeface="Noto Sans CJK SC"/>
                <a:ea typeface="Noto Sans CJK SC"/>
              </a:rPr>
              <a:t>2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8172450" y="2686050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任务</a:t>
            </a: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 ·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自动创建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8172450" y="290512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事件一到，任务即刻生成并启动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7715250" y="32099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829550" y="32766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Noto Sans CJK SC"/>
                <a:ea typeface="Noto Sans CJK SC"/>
              </a:rPr>
              <a:t>3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8172450" y="3181350"/>
            <a:ext cx="2324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剧本</a:t>
            </a: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 ·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声明执行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172450" y="3400425"/>
            <a:ext cx="2324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只定约束与产出，怎么做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Agent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自己定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7715250" y="37052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829550" y="37719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Noto Sans CJK SC"/>
                <a:ea typeface="Noto Sans CJK SC"/>
              </a:rPr>
              <a:t>4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172450" y="3676650"/>
            <a:ext cx="2266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产出</a:t>
            </a: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 ·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真实交付物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172450" y="389572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报告、看板、操作计划，不是聊天消息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7715250" y="42005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829550" y="42672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Noto Sans CJK SC"/>
                <a:ea typeface="Noto Sans CJK SC"/>
              </a:rPr>
              <a:t>5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8172450" y="4171950"/>
            <a:ext cx="22002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交付</a:t>
            </a: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 ·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四种命运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172450" y="4391025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通知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/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发布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/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执行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/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托管，各得其所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7715250" y="46958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829550" y="47625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Noto Sans CJK SC"/>
                <a:ea typeface="Noto Sans CJK SC"/>
              </a:rPr>
              <a:t>6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172450" y="4667250"/>
            <a:ext cx="1866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沉淀</a:t>
            </a: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 ·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反哺下一轮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172450" y="488632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产出变资产，驱动飞轮继续加速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34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Gyra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业务场景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Loop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03 / 12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1" name="" descr="&lt;Slide style={{ width: '1280px', height: '720px', background: '#0F172A', padding: '20px 64px', fontFamily: 'Noto Sans CJK SC, PingFang SC, Helvetica Neue, sans-serif' }}&gt;&#10;  {/* A 标题块 */}&#10;  &lt;Box style={{ height: 100, flexDirection: 'row', alignItems: 'center', gap: 16 }}&gt;&#10;    &lt;Box style={{ width: 8, height: 48, background: 'linear-gradient(180deg, #3B82F6 0%, #22D3EE 100%)', borderRadius: 4 }} /&gt;&#10;    &lt;Box&gt;&#10;      &lt;Text style={{ fontSize: 36, fontWeight: 'bold', color: '#F1F5F9' }}&gt;数据稳定准确：数字只能来自&quot;已确认&quot;&lt;/Text&gt;&#10;      &lt;Text style={{ fontSize: 16, color: '#94A3B8', marginTop: 6 }}&gt;语义层统一口径 + 工具面硬门禁 + 人确认机制，让每个数字可追溯&lt;/Text&gt;&#10;    &lt;/Box&gt;&#10;  &lt;/Box&gt;&#10;  {/* B 内容区：非对称双栏 60:40 */}&#10;  &lt;Box style={{ height: 520, flexDirection: 'row', gap: 32 }}&gt;&#10;    {/* 左 60%：治理闭环流程 */}&#10;    &lt;Box style={{ width: '60%', background: '#1E293B', borderRadius: 16, border: '1px solid rgba(148,163,184,0.25)', padding: 28, flexDirection: 'column' }}&gt;&#10;      &lt;Text style={{ fontSize: 20, fontWeight: 'bold', color: '#22D3EE' }}&gt;治理闭环：数据可信的流水线&lt;/Text&gt;&#10;      &lt;Box style={{ marginTop: 18, flexDirection: 'column', gap: 10, flex: 1 }}&gt;&#10;        &lt;Box style={{ flexDirection: 'row', alignItems: 'center', gap: 14 }}&gt;&#10;          &lt;Box style={{ width: 150, background: 'rgba(59,130,246,0.20)', borderRadius: 10, padding: '10px 14px', border: '1px solid rgba(59,130,246,0.5)' }}&gt;&lt;Text style={{ fontSize: 16, fontWeight: 'bold', color: '#F1F5F9', textAlign: 'center' }}&gt;资产登记&lt;/Text&gt;&lt;/Box&gt;&#10;          &lt;Text style={{ fontSize: 15, color: '#94A3B8', flex: 1 }}&gt;数据库、表、指标全部登记在册&lt;/Text&gt;&#10;        &lt;/Box&gt;&#10;        &lt;Text style={{ fontSize: 16, color: '#3B82F6', marginLeft: 66 }}&gt;↓&lt;/Text&gt;&#10;        &lt;Box style={{ flexDirection: 'row', alignItems: 'center', gap: 14 }}&gt;&#10;          &lt;Box style={{ width: 150, background: 'rgba(59,130,246,0.20)', borderRadius: 10, padding: '10px 14px', border: '1px solid rgba(59,130,246,0.5)' }}&gt;&lt;Text style={{ fontSize: 16, fontWeight: 'bold', color: '#F1F5F9', textAlign: 'center' }}&gt;spec 学习&lt;/Text&gt;&lt;/Box&gt;&#10;          &lt;Text style={{ fontSize: 15, color: '#94A3B8', flex: 1 }}&gt;AI 自动学习资产结构与含义&lt;/Text&gt;&#10;        &lt;/Box&gt;&#10;        &lt;Text style={{ fontSize: 16, color: '#3B82F6', marginLeft: 66 }}&gt;↓&lt;/Text&gt;&#10;        &lt;Box style={{ flexDirection: 'row', alignItems: 'center', gap: 14 }}&gt;&#10;          &lt;Box style={{ width: 150, background: 'rgba(34,211,238,0.18)', borderRadius: 10, padding: '10px 14px', border: '1px solid rgba(34,211,238,0.5)' }}&gt;&lt;Text style={{ fontSize: 16, fontWeight: 'bold', color: '#F1F5F9', textAlign: 'center' }}&gt;口径提案&lt;/Text&gt;&lt;/Box&gt;&#10;          &lt;Text style={{ fontSize: 15, color: '#94A3B8', flex: 1 }}&gt;指标怎么算，AI 给出声明式提案&lt;/Text&gt;&#10;        &lt;/Box&gt;&#10;        &lt;Text style={{ fontSize: 16, color: '#3B82F6', marginLeft: 66 }}&gt;↓&lt;/Text&gt;&#10;        &lt;Box style={{ flexDirection: 'row', alignItems: 'center', gap: 14 }}&gt;&#10;          &lt;Box style={{ width: 150, background: 'rgba(245,158,11,0.18)', borderRadius: 10, padding: '10px 14px', border: '1px solid rgba(245,158,11,0.5)' }}&gt;&lt;Text style={{ fontSize: 16, fontWeight: 'bold', color: '#F59E0B', textAlign: 'center' }}&gt;人确认&lt;/Text&gt;&lt;/Box&gt;&#10;          &lt;Text style={{ fontSize: 15, color: '#94A3B8', flex: 1 }}&gt;业务负责人点头，口径才生效&lt;/Text&gt;&#10;        &lt;/Box&gt;&#10;        &lt;Text style={{ fontSize: 16, color: '#3B82F6', marginLeft: 66 }}&gt;↓&lt;/Text&gt;&#10;        &lt;Box style={{ flexDirection: 'row', alignItems: 'center', gap: 14 }}&gt;&#10;          &lt;Box style={{ width: 150, background: 'linear-gradient(135deg, #3B82F6 0%, #22D3EE 100%)', borderRadius: 10, padding: '10px 14px' }}&gt;&lt;Text style={{ fontSize: 16, fontWeight: 'bold', color: '#0F172A', textAlign: 'center' }}&gt;语义目录&lt;/Text&gt;&lt;/Box&gt;&#10;          &lt;Text style={{ fontSize: 15, color: '#F1F5F9', flex: 1 }}&gt;verified：全公司唯一可信口径&lt;/Text&gt;&#10;        &lt;/Box&gt;&#10;      &lt;/Box&gt;&#10;      &lt;Box style={{ marginTop: 'auto', background: 'rgba(245,158,11,0.08)', border: '1px dashed rgba(245,158,11,0.45)', borderRadius: 10, padding: '10px 16px', flexDirection: 'row', alignItems: 'center', gap: 10 }}&gt;&#10;        &lt;FAIcon name=&quot;sync&quot; style={{ fill: '#F59E0B', width: 18, height: 18 }} /&gt;&#10;        &lt;Text style={{ fontSize: 15, color: '#F1F5F9' }}&gt;&lt;span style={{ color: '#F59E0B', fontWeight: 'bold' }}&gt;漂移检测&lt;/span&gt;：数据口径变了自动发现 → 生成新提案 → 人确认后更新&lt;/Text&gt;&#10;      &lt;/Box&gt;&#10;    &lt;/Box&gt;&#10;    {/* 右 40%：三个要点 */}&#10;    &lt;Box style={{ flex: 1, flexDirection: 'column', gap: 16 }}&gt;&#10;      &lt;Box style={{ flex: 1, background: 'rgba(59,130,246,0.10)', borderRadius: 16, padding: 22, border: '1px solid rgba(148,163,184,0.25)', flexDirection: 'column' }}&gt;&#10;        &lt;Box style={{ flexDirection: 'row', alignItems: 'center', gap: 12 }}&gt;&#10;          &lt;FAIcon name=&quot;book&quot; style={{ fill: '#3B82F6', width: 26, height: 26 }} /&gt;&#10;          &lt;Text style={{ fontSize: 20, fontWeight: 'bold', color: '#F1F5F9' }}&gt;一套口径&lt;/Text&gt;&#10;        &lt;/Box&gt;&#10;        &lt;Text style={{ fontSize: 15, color: '#94A3B8', lineHeight: 1.6, marginTop: 10 }}&gt;实体、指标、关系在语义层统一声明。全公司看同一个&quot;营收&quot;，告别各说各话。&lt;/Text&gt;&#10;      &lt;/Box&gt;&#10;      &lt;Box style={{ flex: 1, background: 'rgba(59,130,246,0.10)', borderRadius: 16, padding: 22, border: '1px solid rgba(148,163,184,0.25)', flexDirection: 'column' }}&gt;&#10;        &lt;Box style={{ flexDirection: 'row', alignItems: 'center', gap: 12 }}&gt;&#10;          &lt;FAIcon name=&quot;lock&quot; style={{ fill: '#22D3EE', width: 26, height: 26 }} /&gt;&#10;          &lt;Text style={{ fontSize: 20, fontWeight: 'bold', color: '#F1F5F9' }}&gt;硬门禁&lt;/Text&gt;&#10;        &lt;/Box&gt;&#10;        &lt;Text style={{ fontSize: 15, color: '#94A3B8', lineHeight: 1.6, marginTop: 10 }}&gt;数字只能来自已确认指标——从工具面直接限制，不靠 prompt&quot;请自觉遵守&quot;。&lt;/Text&gt;&#10;      &lt;/Box&gt;&#10;      &lt;Box style={{ flex: 1, background: 'rgba(59,130,246,0.10)', borderRadius: 16, padding: 22, border: '1px solid rgba(148,163,184,0.25)', flexDirection: 'column' }}&gt;&#10;        &lt;Box style={{ flexDirection: 'row', alignItems: 'center', gap: 12 }}&gt;&#10;          &lt;FAIcon name=&quot;eye&quot; style={{ fill: '#F59E0B', width: 26, height: 26 }} /&gt;&#10;          &lt;Text style={{ fontSize: 20, fontWeight: 'bold', color: '#F1F5F9' }}&gt;持续保鲜&lt;/Text&gt;&#10;        &lt;/Box&gt;&#10;        &lt;Text style={{ fontSize: 15, color: '#94A3B8', lineHeight: 1.6, marginTop: 10 }}&gt;口径不是定义完就过时。漂移检测持续巡检，变化有人确认、有记录。&lt;/Text&gt;&#10;      &lt;/Box&gt;&#10;    &lt;/Box&gt;&#10;  &lt;/Box&gt;&#10;  {/* C 页脚条 */}&#10;  &lt;Box style={{ height: 60, flexDirection: 'row', justifyContent: 'space-between', alignItems: 'center' }}&gt;&#10;    &lt;Text style={{ fontSize: 14, color: '#94A3B8' }}&gt;Gyra · 业务场景 Loop&lt;/Text&gt;&#10;    &lt;Text style={{ fontSize: 14, color: '#94A3B8' }}&gt;04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609600" y="438150"/>
            <a:ext cx="76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38200" y="333375"/>
            <a:ext cx="5829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数据稳定准确：数字只能来自</a:t>
            </a:r>
            <a:r>
              <a:rPr lang="en-US" sz="2700" b="1">
                <a:solidFill>
                  <a:srgbClr val="F1F5F9"/>
                </a:solidFill>
                <a:latin typeface="Noto Sans CJK SC"/>
                <a:ea typeface="Noto Sans CJK SC"/>
              </a:rPr>
              <a:t>"</a:t>
            </a: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已确认</a:t>
            </a:r>
            <a:r>
              <a:rPr lang="en-US" sz="2700" b="1">
                <a:solidFill>
                  <a:srgbClr val="F1F5F9"/>
                </a:solidFill>
                <a:latin typeface="Noto Sans CJK SC"/>
                <a:ea typeface="Noto Sans CJK SC"/>
              </a:rPr>
              <a:t>"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38200" y="809625"/>
            <a:ext cx="5829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语义层统一口径</a:t>
            </a:r>
            <a:r>
              <a:rPr lang="en-US" sz="1200">
                <a:solidFill>
                  <a:srgbClr val="94A3B8"/>
                </a:solidFill>
                <a:latin typeface="Noto Sans CJK SC"/>
                <a:ea typeface="Noto Sans CJK SC"/>
              </a:rPr>
              <a:t> + </a:t>
            </a: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工具面硬门禁</a:t>
            </a:r>
            <a:r>
              <a:rPr lang="en-US" sz="1200">
                <a:solidFill>
                  <a:srgbClr val="94A3B8"/>
                </a:solidFill>
                <a:latin typeface="Noto Sans CJK SC"/>
                <a:ea typeface="Noto Sans CJK SC"/>
              </a:rPr>
              <a:t> + </a:t>
            </a: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人确认机制，让每个数字可追溯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1143000"/>
            <a:ext cx="6581775" cy="495300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76300" y="1409700"/>
            <a:ext cx="6048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D3EE"/>
                </a:solidFill>
                <a:latin typeface="Noto Sans CJK SC"/>
                <a:ea typeface="Noto Sans CJK SC"/>
              </a:rPr>
              <a:t>治理闭环：数据可信的流水线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876300" y="1809750"/>
            <a:ext cx="142875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09650" y="1905000"/>
            <a:ext cx="116205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F1F5F9"/>
                </a:solidFill>
                <a:latin typeface="Noto Sans CJK SC"/>
                <a:ea typeface="Noto Sans CJK SC"/>
              </a:rPr>
              <a:t>资产登记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2438400" y="1914525"/>
            <a:ext cx="448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数据库、表、指标全部登记在册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504950" y="2286000"/>
            <a:ext cx="5419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B82F6"/>
                </a:solidFill>
                <a:latin typeface="Noto Sans CJK SC"/>
                <a:ea typeface="Noto Sans CJK SC"/>
              </a:rPr>
              <a:t>↓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876300" y="2571750"/>
            <a:ext cx="142875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09650" y="2667000"/>
            <a:ext cx="116205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F1F5F9"/>
                </a:solidFill>
                <a:latin typeface="Noto Sans CJK SC"/>
                <a:ea typeface="Noto Sans CJK SC"/>
              </a:rPr>
              <a:t>spec </a:t>
            </a:r>
            <a:r>
              <a:rPr lang="zh-CN" sz="1200" b="1">
                <a:solidFill>
                  <a:srgbClr val="F1F5F9"/>
                </a:solidFill>
                <a:latin typeface="Noto Sans CJK SC"/>
                <a:ea typeface="Noto Sans CJK SC"/>
              </a:rPr>
              <a:t>学习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2438400" y="2676525"/>
            <a:ext cx="448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Noto Sans CJK SC"/>
                <a:ea typeface="Noto Sans CJK SC"/>
              </a:rPr>
              <a:t>AI </a:t>
            </a: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自动学习资产结构与含义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504950" y="3048000"/>
            <a:ext cx="5419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B82F6"/>
                </a:solidFill>
                <a:latin typeface="Noto Sans CJK SC"/>
                <a:ea typeface="Noto Sans CJK SC"/>
              </a:rPr>
              <a:t>↓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876300" y="3333750"/>
            <a:ext cx="1428750" cy="381000"/>
          </a:xfrm>
          <a:prstGeom prst="roundRect">
            <a:avLst>
              <a:gd name="adj" fmla="val 25000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009650" y="3429000"/>
            <a:ext cx="116205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F1F5F9"/>
                </a:solidFill>
                <a:latin typeface="Noto Sans CJK SC"/>
                <a:ea typeface="Noto Sans CJK SC"/>
              </a:rPr>
              <a:t>口径提案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2438400" y="3438525"/>
            <a:ext cx="448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指标怎么算，</a:t>
            </a:r>
            <a:r>
              <a:rPr lang="en-US" sz="1125">
                <a:solidFill>
                  <a:srgbClr val="94A3B8"/>
                </a:solidFill>
                <a:latin typeface="Noto Sans CJK SC"/>
                <a:ea typeface="Noto Sans CJK SC"/>
              </a:rPr>
              <a:t>AI </a:t>
            </a: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给出声明式提案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504950" y="3810000"/>
            <a:ext cx="5419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B82F6"/>
                </a:solidFill>
                <a:latin typeface="Noto Sans CJK SC"/>
                <a:ea typeface="Noto Sans CJK SC"/>
              </a:rPr>
              <a:t>↓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876300" y="4095750"/>
            <a:ext cx="1428750" cy="381000"/>
          </a:xfrm>
          <a:prstGeom prst="roundRect">
            <a:avLst>
              <a:gd name="adj" fmla="val 2500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009650" y="4191000"/>
            <a:ext cx="116205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Noto Sans CJK SC"/>
                <a:ea typeface="Noto Sans CJK SC"/>
              </a:rPr>
              <a:t>人确认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2438400" y="4200525"/>
            <a:ext cx="448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业务负责人点头，口径才生效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504950" y="4572000"/>
            <a:ext cx="5419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>
                <a:solidFill>
                  <a:srgbClr val="3B82F6"/>
                </a:solidFill>
                <a:latin typeface="Noto Sans CJK SC"/>
                <a:ea typeface="Noto Sans CJK SC"/>
              </a:rPr>
              <a:t>↓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876300" y="4857750"/>
            <a:ext cx="1428750" cy="3810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009650" y="4953000"/>
            <a:ext cx="1162050" cy="1905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Noto Sans CJK SC"/>
                <a:ea typeface="Noto Sans CJK SC"/>
              </a:rPr>
              <a:t>语义目录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2438400" y="4962525"/>
            <a:ext cx="448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1F5F9"/>
                </a:solidFill>
                <a:latin typeface="Noto Sans CJK SC"/>
                <a:ea typeface="Noto Sans CJK SC"/>
              </a:rPr>
              <a:t>verified</a:t>
            </a:r>
            <a:r>
              <a:rPr lang="zh-CN" sz="1125">
                <a:solidFill>
                  <a:srgbClr val="F1F5F9"/>
                </a:solidFill>
                <a:latin typeface="Noto Sans CJK SC"/>
                <a:ea typeface="Noto Sans CJK SC"/>
              </a:rPr>
              <a:t>：全公司唯一可信口径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876300" y="5467350"/>
            <a:ext cx="6048375" cy="361950"/>
          </a:xfrm>
          <a:prstGeom prst="roundRect">
            <a:avLst>
              <a:gd name="adj" fmla="val 26316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45000"/>
              </a:srgbClr>
            </a:solidFill>
            <a:prstDash val="dash"/>
          </a:ln>
        </p:spPr>
        <p:txBody>
          <a:bodyPr/>
          <a:p/>
        </p:txBody>
      </p:sp>
      <p:pic>
        <p:nvPicPr>
          <p:cNvPr id="1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28700" y="5562600"/>
            <a:ext cx="171450" cy="171450"/>
          </a:xfrm>
          <a:prstGeom prst="rect">
            <a:avLst/>
          </a:prstGeom>
          <a:ln/>
        </p:spPr>
      </p:pic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295400" y="5562600"/>
            <a:ext cx="4191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Noto Sans CJK SC"/>
                <a:ea typeface="Noto Sans CJK SC"/>
              </a:rPr>
              <a:t>漂移检测</a:t>
            </a:r>
            <a:r>
              <a:rPr lang="zh-CN" sz="1125">
                <a:solidFill>
                  <a:srgbClr val="F1F5F9"/>
                </a:solidFill>
                <a:latin typeface="Noto Sans CJK SC"/>
                <a:ea typeface="Noto Sans CJK SC"/>
              </a:rPr>
              <a:t>：数据口径变了自动发现</a:t>
            </a:r>
            <a:r>
              <a:rPr lang="en-US" sz="1125">
                <a:solidFill>
                  <a:srgbClr val="F1F5F9"/>
                </a:solidFill>
                <a:latin typeface="Noto Sans CJK SC"/>
                <a:ea typeface="Noto Sans CJK SC"/>
              </a:rPr>
              <a:t> → </a:t>
            </a:r>
            <a:r>
              <a:rPr lang="zh-CN" sz="1125">
                <a:solidFill>
                  <a:srgbClr val="F1F5F9"/>
                </a:solidFill>
                <a:latin typeface="Noto Sans CJK SC"/>
                <a:ea typeface="Noto Sans CJK SC"/>
              </a:rPr>
              <a:t>生成新提案</a:t>
            </a:r>
            <a:r>
              <a:rPr lang="en-US" sz="1125">
                <a:solidFill>
                  <a:srgbClr val="F1F5F9"/>
                </a:solidFill>
                <a:latin typeface="Noto Sans CJK SC"/>
                <a:ea typeface="Noto Sans CJK SC"/>
              </a:rPr>
              <a:t> → </a:t>
            </a:r>
            <a:r>
              <a:rPr lang="zh-CN" sz="1125">
                <a:solidFill>
                  <a:srgbClr val="F1F5F9"/>
                </a:solidFill>
                <a:latin typeface="Noto Sans CJK SC"/>
                <a:ea typeface="Noto Sans CJK SC"/>
              </a:rPr>
              <a:t>人确认后更新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7496175" y="1143000"/>
            <a:ext cx="4086225" cy="1552575"/>
          </a:xfrm>
          <a:prstGeom prst="roundRect">
            <a:avLst>
              <a:gd name="adj" fmla="val 9816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705725" y="1352550"/>
            <a:ext cx="247650" cy="247650"/>
          </a:xfrm>
          <a:prstGeom prst="rect">
            <a:avLst/>
          </a:prstGeom>
          <a:ln/>
        </p:spPr>
      </p:pic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067675" y="1362075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1F5F9"/>
                </a:solidFill>
                <a:latin typeface="Noto Sans CJK SC"/>
                <a:ea typeface="Noto Sans CJK SC"/>
              </a:rPr>
              <a:t>一套口径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7705725" y="1695450"/>
            <a:ext cx="36671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实体、指标、关系在语义层统一声明。全公司看同一个</a:t>
            </a:r>
            <a:r>
              <a:rPr lang="en-US" sz="1125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营收</a:t>
            </a:r>
            <a:r>
              <a:rPr lang="en-US" sz="1125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，告别各说各话。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7496175" y="2847975"/>
            <a:ext cx="4086225" cy="1543050"/>
          </a:xfrm>
          <a:prstGeom prst="roundRect">
            <a:avLst>
              <a:gd name="adj" fmla="val 987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705725" y="3057525"/>
            <a:ext cx="247650" cy="247650"/>
          </a:xfrm>
          <a:prstGeom prst="rect">
            <a:avLst/>
          </a:prstGeom>
          <a:ln/>
        </p:spPr>
      </p:pic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067675" y="3067050"/>
            <a:ext cx="57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1F5F9"/>
                </a:solidFill>
                <a:latin typeface="Noto Sans CJK SC"/>
                <a:ea typeface="Noto Sans CJK SC"/>
              </a:rPr>
              <a:t>硬门禁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705725" y="3400425"/>
            <a:ext cx="36671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数字只能来自已确认指标——从工具面直接限制，不靠</a:t>
            </a:r>
            <a:r>
              <a:rPr lang="en-US" sz="1125">
                <a:solidFill>
                  <a:srgbClr val="94A3B8"/>
                </a:solidFill>
                <a:latin typeface="Noto Sans CJK SC"/>
                <a:ea typeface="Noto Sans CJK SC"/>
              </a:rPr>
              <a:t> prompt"</a:t>
            </a: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请自觉遵守</a:t>
            </a:r>
            <a:r>
              <a:rPr lang="en-US" sz="1125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。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7496175" y="4543425"/>
            <a:ext cx="4086225" cy="1552575"/>
          </a:xfrm>
          <a:prstGeom prst="roundRect">
            <a:avLst>
              <a:gd name="adj" fmla="val 9816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705725" y="4752975"/>
            <a:ext cx="247650" cy="247650"/>
          </a:xfrm>
          <a:prstGeom prst="rect">
            <a:avLst/>
          </a:prstGeom>
          <a:ln/>
        </p:spPr>
      </p:pic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067675" y="47625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1F5F9"/>
                </a:solidFill>
                <a:latin typeface="Noto Sans CJK SC"/>
                <a:ea typeface="Noto Sans CJK SC"/>
              </a:rPr>
              <a:t>持续保鲜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705725" y="5095875"/>
            <a:ext cx="36671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口径不是定义完就过时。漂移检测持续巡检，变化有人确认、有记录。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34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Gyra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业务场景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Loop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04 / 12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84" name="" descr="&lt;Slide style={{ width: '1280px', height: '720px', background: '#0F172A', padding: '20px 64px', fontFamily: 'Noto Sans CJK SC, PingFang SC, Helvetica Neue, sans-serif' }}&gt;&#10;  {/* A 标题块 */}&#10;  &lt;Box style={{ height: 100, flexDirection: 'row', alignItems: 'center', gap: 16 }}&gt;&#10;    &lt;Box style={{ width: 8, height: 48, background: 'linear-gradient(180deg, #3B82F6 0%, #22D3EE 100%)', borderRadius: 4 }} /&gt;&#10;    &lt;Box&gt;&#10;      &lt;Text style={{ fontSize: 36, fontWeight: 'bold', color: '#F1F5F9' }}&gt;数据循环：场景不停，任务不断&lt;/Text&gt;&#10;      &lt;Text style={{ fontSize: 16, color: '#94A3B8', marginTop: 6 }}&gt;事件驱动触发 → 声明式剧本执行 → 四类真实交付，产出物各得其所&lt;/Text&gt;&#10;    &lt;/Box&gt;&#10;  &lt;/Box&gt;&#10;  {/* B 内容区：上部链路 55% + 下方四交付卡 */}&#10;  &lt;Box style={{ height: 520, flexDirection: 'column', gap: 20 }}&gt;&#10;    {/* 上部横向链路 */}&#10;    &lt;Box style={{ height: 268, background: '#1E293B', borderRadius: 16, border: '1px solid rgba(148,163,184,0.25)', padding: 24, flexDirection: 'row', alignItems: 'center', gap: 14 }}&gt;&#10;      {/* 触发源 */}&#10;      &lt;Box style={{ width: 240, flexDirection: 'column', gap: 8 }}&gt;&#10;        &lt;Text style={{ fontSize: 17, fontWeight: 'bold', color: '#22D3EE', marginBottom: 4 }}&gt;① 四种触发源&lt;/Text&gt;&#10;        &lt;Box style={{ flexDirection: 'row', gap: 8, flexWrap: 'wrap' }}&gt;&#10;          &lt;Box style={{ background: 'rgba(59,130,246,0.20)', borderRadius: 8, padding: '7px 12px', border: '1px solid rgba(59,130,246,0.5)', flexDirection: 'row', gap: 6, alignItems: 'center' }}&gt;&lt;FAIcon name=&quot;clock&quot; style={{ fill: '#3B82F6', width: 14, height: 14 }} /&gt;&lt;Text style={{ fontSize: 14, color: '#F1F5F9' }}&gt;定时&lt;/Text&gt;&lt;/Box&gt;&#10;          &lt;Box style={{ background: 'rgba(59,130,246,0.20)', borderRadius: 8, padding: '7px 12px', border: '1px solid rgba(59,130,246,0.5)', flexDirection: 'row', gap: 6, alignItems: 'center' }}&gt;&lt;FAIcon name=&quot;share&quot; style={{ fill: '#3B82F6', width: 14, height: 14 }} /&gt;&lt;Text style={{ fontSize: 14, color: '#F1F5F9' }}&gt;Webhook&lt;/Text&gt;&lt;/Box&gt;&#10;          &lt;Box style={{ background: 'rgba(59,130,246,0.20)', borderRadius: 8, padding: '7px 12px', border: '1px solid rgba(59,130,246,0.5)', flexDirection: 'row', gap: 6, alignItems: 'center' }}&gt;&lt;FAIcon name=&quot;bell&quot; style={{ fill: '#3B82F6', width: 14, height: 14 }} /&gt;&lt;Text style={{ fontSize: 14, color: '#F1F5F9' }}&gt;告警&lt;/Text&gt;&lt;/Box&gt;&#10;          &lt;Box style={{ background: 'rgba(59,130,246,0.20)', borderRadius: 8, padding: '7px 12px', border: '1px solid rgba(59,130,246,0.5)', flexDirection: 'row', gap: 6, alignItems: 'center' }}&gt;&lt;FAIcon name=&quot;hand-pointer&quot; style={{ fill: '#3B82F6', width: 14, height: 14 }} /&gt;&lt;Text style={{ fontSize: 14, color: '#F1F5F9' }}&gt;手动&lt;/Text&gt;&lt;/Box&gt;&#10;        &lt;/Box&gt;&#10;        &lt;Text style={{ fontSize: 13, color: '#94A3B8', lineHeight: 1.5, marginTop: 6 }}&gt;Agent 持续监听场景事件，不是等人发指令&lt;/Text&gt;&#10;      &lt;/Box&gt;&#10;      &lt;FAIcon name=&quot;arrow-right&quot; style={{ fill: '#3B82F6', width: 26, height: 26 }} /&gt;&#10;      {/* 任务 */}&#10;      &lt;Box style={{ width: 150, background: 'rgba(59,130,246,0.15)', borderRadius: 12, padding: 16, border: '1px solid rgba(59,130,246,0.5)', alignItems: 'center', gap: 8 }}&gt;&#10;        &lt;FAIcon name=&quot;file-text&quot; style={{ fill: '#3B82F6', width: 30, height: 30 }} /&gt;&#10;        &lt;Text style={{ fontSize: 17, fontWeight: 'bold', color: '#F1F5F9', textAlign: 'center' }}&gt;② 任务创建&lt;/Text&gt;&#10;        &lt;Text style={{ fontSize: 13, color: '#94A3B8', textAlign: 'center' }}&gt;自动启动&lt;br /&gt;不阻塞&lt;/Text&gt;&#10;      &lt;/Box&gt;&#10;      &lt;FAIcon name=&quot;arrow-right&quot; style={{ fill: '#3B82F6', width: 26, height: 26 }} /&gt;&#10;      {/* 剧本 */}&#10;      &lt;Box style={{ flex: 1, background: 'rgba(34,211,238,0.10)', borderRadius: 12, padding: 16, border: '1px solid rgba(34,211,238,0.45)', flexDirection: 'column', gap: 6 }}&gt;&#10;        &lt;Box style={{ flexDirection: 'row', gap: 8, alignItems: 'center' }}&gt;&#10;          &lt;FAIcon name=&quot;clipboard&quot; style={{ fill: '#22D3EE', width: 22, height: 22 }} /&gt;&#10;          &lt;Text style={{ fontSize: 17, fontWeight: 'bold', color: '#F1F5F9' }}&gt;③ 剧本执行（声明式）&lt;/Text&gt;&#10;        &lt;/Box&gt;&#10;        &lt;Text style={{ fontSize: 13.5, color: '#94A3B8', lineHeight: 1.55 }}&gt;剧本只声明三件事：&lt;span style={{ color: '#22D3EE' }}&gt;能用什么资源&lt;/span&gt;、&lt;span style={{ color: '#22D3EE' }}&gt;必须产出什么&lt;/span&gt;、&lt;span style={{ color: '#22D3EE' }}&gt;什么情况必须人介入&lt;/span&gt;。具体怎么做，交给 Agent 自主规划——模型越强，执行越好。&lt;/Text&gt;&#10;      &lt;/Box&gt;&#10;      &lt;FAIcon name=&quot;arrow-right&quot; style={{ fill: '#3B82F6', width: 26, height: 26 }} /&gt;&#10;      {/* 交付 */}&#10;      &lt;Box style={{ width: 150, background: 'linear-gradient(135deg, #3B82F6 0%, #22D3EE 100%)', borderRadius: 12, padding: 16, alignItems: 'center', gap: 8 }}&gt;&#10;        &lt;FAIcon name=&quot;check-circle&quot; style={{ fill: '#0F172A', width: 30, height: 30 }} /&gt;&#10;        &lt;Text style={{ fontSize: 17, fontWeight: 'bold', color: '#0F172A', textAlign: 'center' }}&gt;④ 产出交付&lt;/Text&gt;&#10;        &lt;Text style={{ fontSize: 13, color: '#0F172A', textAlign: 'center' }}&gt;真实交付物&lt;br /&gt;而非聊天消息&lt;/Text&gt;&#10;      &lt;/Box&gt;&#10;    &lt;/Box&gt;&#10;    {/* 下方四类交付卡 */}&#10;    &lt;Box style={{ flex: 1, flexDirection: 'row', gap: 16 }}&gt;&#10;      &lt;Box style={{ flex: 1, background: 'rgba(59,130,246,0.10)', borderRadius: 14, padding: 20, border: '1px solid rgba(148,163,184,0.25)', flexDirection: 'column' }}&gt;&#10;        &lt;Box style={{ flexDirection: 'row', gap: 10, alignItems: 'center' }}&gt;&lt;FAIcon name=&quot;envelope&quot; style={{ fill: '#3B82F6', width: 24, height: 24 }} /&gt;&lt;Text style={{ fontSize: 19, fontWeight: 'bold', color: '#F1F5F9' }}&gt;Notify 通知&lt;/Text&gt;&lt;/Box&gt;&#10;        &lt;Text style={{ fontSize: 14, color: '#94A3B8', lineHeight: 1.6, marginTop: 10 }}&gt;报告邮件、群消息卡片，产出主动推到该看的人面前&lt;/Text&gt;&#10;        &lt;Text style={{ fontSize: 13, color: '#22D3EE', marginTop: 'auto', paddingTop: 10 }}&gt;例：月报邮件 / 告警播报&lt;/Text&gt;&#10;      &lt;/Box&gt;&#10;      &lt;Box style={{ flex: 1, background: 'rgba(59,130,246,0.10)', borderRadius: 14, padding: 20, border: '1px solid rgba(148,163,184,0.25)', flexDirection: 'column' }}&gt;&#10;        &lt;Box style={{ flexDirection: 'row', gap: 10, alignItems: 'center' }}&gt;&lt;FAIcon name=&quot;upload&quot; style={{ fill: '#22D3EE', width: 24, height: 24 }} /&gt;&lt;Text style={{ fontSize: 19, fontWeight: 'bold', color: '#F1F5F9' }}&gt;Publish 发布&lt;/Text&gt;&lt;/Box&gt;&#10;        &lt;Text style={{ fontSize: 14, color: '#94A3B8', lineHeight: 1.6, marginTop: 10 }}&gt;产出写入外部系统，成为正式记录而非一次性文件&lt;/Text&gt;&#10;        &lt;Text style={{ fontSize: 13, color: '#22D3EE', marginTop: 'auto', paddingTop: 10 }}&gt;例：报表入 BI / 代码入库&lt;/Text&gt;&#10;      &lt;/Box&gt;&#10;      &lt;Box style={{ flex: 1, background: 'rgba(59,130,246,0.10)', borderRadius: 14, padding: 20, border: '1px solid rgba(148,163,184,0.25)', flexDirection: 'column' }}&gt;&#10;        &lt;Box style={{ flexDirection: 'row', gap: 10, alignItems: 'center' }}&gt;&lt;FAIcon name=&quot;cog&quot; style={{ fill: '#F59E0B', width: 24, height: 24 }} /&gt;&lt;Text style={{ fontSize: 19, fontWeight: 'bold', color: '#F1F5F9' }}&gt;Execute 执行&lt;/Text&gt;&lt;/Box&gt;&#10;        &lt;Text style={{ fontSize: 14, color: '#94A3B8', lineHeight: 1.6, marginTop: 10 }}&gt;操作计划在真实世界落地，执行前必经人审批&lt;/Text&gt;&#10;        &lt;Text style={{ fontSize: 13, color: '#22D3EE', marginTop: 'auto', paddingTop: 10 }}&gt;例：重启服务 / 回滚版本&lt;/Text&gt;&#10;      &lt;/Box&gt;&#10;      &lt;Box style={{ flex: 1, background: 'rgba(59,130,246,0.10)', borderRadius: 14, padding: 20, border: '1px solid rgba(148,163,184,0.25)', flexDirection: 'column' }}&gt;&#10;        &lt;Box style={{ flexDirection: 'row', gap: 10, alignItems: 'center' }}&gt;&lt;FAIcon name=&quot;home&quot; style={{ fill: '#F59E0B', width: 24, height: 24 }} /&gt;&lt;Text style={{ fontSize: 19, fontWeight: 'bold', color: '#F1F5F9' }}&gt;Host 托管&lt;/Text&gt;&lt;/Box&gt;&#10;        &lt;Text style={{ fontSize: 14, color: '#94A3B8', lineHeight: 1.6, marginTop: 10 }}&gt;看板、站点在空间内长期托管运行，持续可查可用&lt;/Text&gt;&#10;        &lt;Text style={{ fontSize: 13, color: '#22D3EE', marginTop: 'auto', paddingTop: 10 }}&gt;例：运营看板 / 历史档案站&lt;/Text&gt;&#10;      &lt;/Box&gt;&#10;    &lt;/Box&gt;&#10;  &lt;/Box&gt;&#10;  {/* C 页脚条 */}&#10;  &lt;Box style={{ height: 60, flexDirection: 'row', justifyContent: 'space-between', alignItems: 'center' }}&gt;&#10;    &lt;Text style={{ fontSize: 14, color: '#94A3B8' }}&gt;Gyra · 业务场景 Loop&lt;/Text&gt;&#10;    &lt;Text style={{ fontSize: 14, color: '#94A3B8' }}&gt;05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609600" y="438150"/>
            <a:ext cx="76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38200" y="333375"/>
            <a:ext cx="4800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数据循环：场景不停，任务不断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38200" y="809625"/>
            <a:ext cx="4800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事件驱动触发</a:t>
            </a:r>
            <a:r>
              <a:rPr lang="en-US" sz="1200">
                <a:solidFill>
                  <a:srgbClr val="94A3B8"/>
                </a:solidFill>
                <a:latin typeface="Noto Sans CJK SC"/>
                <a:ea typeface="Noto Sans CJK SC"/>
              </a:rPr>
              <a:t> → </a:t>
            </a: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声明式剧本执行</a:t>
            </a:r>
            <a:r>
              <a:rPr lang="en-US" sz="1200">
                <a:solidFill>
                  <a:srgbClr val="94A3B8"/>
                </a:solidFill>
                <a:latin typeface="Noto Sans CJK SC"/>
                <a:ea typeface="Noto Sans CJK SC"/>
              </a:rPr>
              <a:t> → </a:t>
            </a: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四类真实交付，产出物各得其所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09600" y="1143000"/>
            <a:ext cx="10972800" cy="2552700"/>
          </a:xfrm>
          <a:prstGeom prst="roundRect">
            <a:avLst>
              <a:gd name="adj" fmla="val 5970"/>
            </a:avLst>
          </a:prstGeom>
          <a:solidFill>
            <a:srgbClr val="1E293B"/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38200" y="1638300"/>
            <a:ext cx="2286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Noto Sans CJK SC"/>
                <a:ea typeface="Noto Sans CJK SC"/>
              </a:rPr>
              <a:t>① </a:t>
            </a:r>
            <a:r>
              <a:rPr lang="zh-CN" sz="1275" b="1">
                <a:solidFill>
                  <a:srgbClr val="22D3EE"/>
                </a:solidFill>
                <a:latin typeface="Noto Sans CJK SC"/>
                <a:ea typeface="Noto Sans CJK SC"/>
              </a:rPr>
              <a:t>四种触发源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838200" y="1952625"/>
            <a:ext cx="685800" cy="295275"/>
          </a:xfrm>
          <a:prstGeom prst="roundRect">
            <a:avLst>
              <a:gd name="adj" fmla="val 2580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2038350"/>
            <a:ext cx="133350" cy="133350"/>
          </a:xfrm>
          <a:prstGeom prst="rect">
            <a:avLst/>
          </a:prstGeom>
          <a:ln/>
        </p:spPr>
      </p:pic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43000" y="20193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1F5F9"/>
                </a:solidFill>
                <a:latin typeface="Noto Sans CJK SC"/>
                <a:ea typeface="Noto Sans CJK SC"/>
              </a:rPr>
              <a:t>定时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1600200" y="1952625"/>
            <a:ext cx="1000125" cy="295275"/>
          </a:xfrm>
          <a:prstGeom prst="roundRect">
            <a:avLst>
              <a:gd name="adj" fmla="val 2580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714500" y="2038350"/>
            <a:ext cx="133350" cy="133350"/>
          </a:xfrm>
          <a:prstGeom prst="rect">
            <a:avLst/>
          </a:prstGeom>
          <a:ln/>
        </p:spPr>
      </p:pic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905000" y="2019300"/>
            <a:ext cx="581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1F5F9"/>
                </a:solidFill>
                <a:latin typeface="Noto Sans CJK SC"/>
                <a:ea typeface="Noto Sans CJK SC"/>
              </a:rPr>
              <a:t>Webhook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838200" y="2324100"/>
            <a:ext cx="685800" cy="295275"/>
          </a:xfrm>
          <a:prstGeom prst="roundRect">
            <a:avLst>
              <a:gd name="adj" fmla="val 2580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52500" y="2409825"/>
            <a:ext cx="133350" cy="133350"/>
          </a:xfrm>
          <a:prstGeom prst="rect">
            <a:avLst/>
          </a:prstGeom>
          <a:ln/>
        </p:spPr>
      </p:pic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1143000" y="23907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1F5F9"/>
                </a:solidFill>
                <a:latin typeface="Noto Sans CJK SC"/>
                <a:ea typeface="Noto Sans CJK SC"/>
              </a:rPr>
              <a:t>告警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1600200" y="2324100"/>
            <a:ext cx="685800" cy="295275"/>
          </a:xfrm>
          <a:prstGeom prst="roundRect">
            <a:avLst>
              <a:gd name="adj" fmla="val 25806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714500" y="2409825"/>
            <a:ext cx="133350" cy="133350"/>
          </a:xfrm>
          <a:prstGeom prst="rect">
            <a:avLst/>
          </a:prstGeom>
          <a:ln/>
        </p:spPr>
      </p:pic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905000" y="23907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1F5F9"/>
                </a:solidFill>
                <a:latin typeface="Noto Sans CJK SC"/>
                <a:ea typeface="Noto Sans CJK SC"/>
              </a:rPr>
              <a:t>手动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38200" y="2752725"/>
            <a:ext cx="228600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Noto Sans CJK SC"/>
                <a:ea typeface="Noto Sans CJK SC"/>
              </a:rPr>
              <a:t>Agent </a:t>
            </a:r>
            <a:r>
              <a:rPr lang="zh-CN" sz="975">
                <a:solidFill>
                  <a:srgbClr val="94A3B8"/>
                </a:solidFill>
                <a:latin typeface="Noto Sans CJK SC"/>
                <a:ea typeface="Noto Sans CJK SC"/>
              </a:rPr>
              <a:t>持续监听场景事件，不是等人发指令</a:t>
            </a:r>
            <a:endParaRPr/>
          </a:p>
        </p:txBody>
      </p:sp>
      <p:pic>
        <p:nvPicPr>
          <p:cNvPr id="2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3257550" y="2295525"/>
            <a:ext cx="247650" cy="247650"/>
          </a:xfrm>
          <a:prstGeom prst="rect">
            <a:avLst/>
          </a:prstGeom>
          <a:ln/>
        </p:spPr>
      </p:pic>
      <p:sp>
        <p:nvSpPr>
          <p:cNvPr id="205" name=""/>
          <p:cNvSpPr/>
          <p:nvPr/>
        </p:nvSpPr>
        <p:spPr>
          <a:xfrm rot="0" flipH="0" flipV="0">
            <a:off x="3638550" y="1800225"/>
            <a:ext cx="1428750" cy="1247775"/>
          </a:xfrm>
          <a:prstGeom prst="roundRect">
            <a:avLst>
              <a:gd name="adj" fmla="val 916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210050" y="1952625"/>
            <a:ext cx="285750" cy="285750"/>
          </a:xfrm>
          <a:prstGeom prst="rect">
            <a:avLst/>
          </a:prstGeom>
          <a:ln/>
        </p:spPr>
      </p:pic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3924300" y="2314575"/>
            <a:ext cx="86677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75" b="1">
                <a:solidFill>
                  <a:srgbClr val="F1F5F9"/>
                </a:solidFill>
                <a:latin typeface="Noto Sans CJK SC"/>
                <a:ea typeface="Noto Sans CJK SC"/>
              </a:rPr>
              <a:t>② </a:t>
            </a:r>
            <a:r>
              <a:rPr lang="zh-CN" sz="1275" b="1">
                <a:solidFill>
                  <a:srgbClr val="F1F5F9"/>
                </a:solidFill>
                <a:latin typeface="Noto Sans CJK SC"/>
                <a:ea typeface="Noto Sans CJK SC"/>
              </a:rPr>
              <a:t>任务创建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4105275" y="2590800"/>
            <a:ext cx="49530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Noto Sans CJK SC"/>
                <a:ea typeface="Noto Sans CJK SC"/>
              </a:rPr>
              <a:t>自动启动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Noto Sans CJK SC"/>
                <a:ea typeface="Noto Sans CJK SC"/>
              </a:rPr>
              <a:t>不阻塞</a:t>
            </a:r>
            <a:endParaRPr/>
          </a:p>
        </p:txBody>
      </p:sp>
      <p:pic>
        <p:nvPicPr>
          <p:cNvPr id="2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5200650" y="2295525"/>
            <a:ext cx="247650" cy="247650"/>
          </a:xfrm>
          <a:prstGeom prst="rect">
            <a:avLst/>
          </a:prstGeom>
          <a:ln/>
        </p:spPr>
      </p:pic>
      <p:sp>
        <p:nvSpPr>
          <p:cNvPr id="210" name=""/>
          <p:cNvSpPr/>
          <p:nvPr/>
        </p:nvSpPr>
        <p:spPr>
          <a:xfrm rot="0" flipH="0" flipV="0">
            <a:off x="5581650" y="1771650"/>
            <a:ext cx="3829050" cy="1295400"/>
          </a:xfrm>
          <a:prstGeom prst="roundRect">
            <a:avLst>
              <a:gd name="adj" fmla="val 8824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5734050" y="1924050"/>
            <a:ext cx="209550" cy="209550"/>
          </a:xfrm>
          <a:prstGeom prst="rect">
            <a:avLst/>
          </a:prstGeom>
          <a:ln/>
        </p:spPr>
      </p:pic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19800" y="1933575"/>
            <a:ext cx="1676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1F5F9"/>
                </a:solidFill>
                <a:latin typeface="Noto Sans CJK SC"/>
                <a:ea typeface="Noto Sans CJK SC"/>
              </a:rPr>
              <a:t>③ </a:t>
            </a:r>
            <a:r>
              <a:rPr lang="zh-CN" sz="1275" b="1">
                <a:solidFill>
                  <a:srgbClr val="F1F5F9"/>
                </a:solidFill>
                <a:latin typeface="Noto Sans CJK SC"/>
                <a:ea typeface="Noto Sans CJK SC"/>
              </a:rPr>
              <a:t>剧本执行（声明式）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734050" y="2190750"/>
            <a:ext cx="352425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13">
                <a:solidFill>
                  <a:srgbClr val="94A3B8"/>
                </a:solidFill>
                <a:latin typeface="Noto Sans CJK SC"/>
                <a:ea typeface="Noto Sans CJK SC"/>
              </a:rPr>
              <a:t>剧本只声明三件事：</a:t>
            </a:r>
            <a:r>
              <a:rPr lang="zh-CN" sz="1013">
                <a:solidFill>
                  <a:srgbClr val="22D3EE"/>
                </a:solidFill>
                <a:latin typeface="Noto Sans CJK SC"/>
                <a:ea typeface="Noto Sans CJK SC"/>
              </a:rPr>
              <a:t>能用什么资源</a:t>
            </a:r>
            <a:r>
              <a:rPr lang="zh-CN" sz="1013">
                <a:solidFill>
                  <a:srgbClr val="94A3B8"/>
                </a:solidFill>
                <a:latin typeface="Noto Sans CJK SC"/>
                <a:ea typeface="Noto Sans CJK SC"/>
              </a:rPr>
              <a:t>、</a:t>
            </a:r>
            <a:r>
              <a:rPr lang="zh-CN" sz="1013">
                <a:solidFill>
                  <a:srgbClr val="22D3EE"/>
                </a:solidFill>
                <a:latin typeface="Noto Sans CJK SC"/>
                <a:ea typeface="Noto Sans CJK SC"/>
              </a:rPr>
              <a:t>必须产出什么</a:t>
            </a:r>
            <a:r>
              <a:rPr lang="zh-CN" sz="1013">
                <a:solidFill>
                  <a:srgbClr val="94A3B8"/>
                </a:solidFill>
                <a:latin typeface="Noto Sans CJK SC"/>
                <a:ea typeface="Noto Sans CJK SC"/>
              </a:rPr>
              <a:t>、</a:t>
            </a:r>
            <a:r>
              <a:rPr lang="zh-CN" sz="1013">
                <a:solidFill>
                  <a:srgbClr val="22D3EE"/>
                </a:solidFill>
                <a:latin typeface="Noto Sans CJK SC"/>
                <a:ea typeface="Noto Sans CJK SC"/>
              </a:rPr>
              <a:t>什么情况必须人介入</a:t>
            </a:r>
            <a:r>
              <a:rPr lang="zh-CN" sz="1013">
                <a:solidFill>
                  <a:srgbClr val="94A3B8"/>
                </a:solidFill>
                <a:latin typeface="Noto Sans CJK SC"/>
                <a:ea typeface="Noto Sans CJK SC"/>
              </a:rPr>
              <a:t>。具体怎么做，交给</a:t>
            </a:r>
            <a:r>
              <a:rPr lang="en-US" sz="1013">
                <a:solidFill>
                  <a:srgbClr val="94A3B8"/>
                </a:solidFill>
                <a:latin typeface="Noto Sans CJK SC"/>
                <a:ea typeface="Noto Sans CJK SC"/>
              </a:rPr>
              <a:t> Agent </a:t>
            </a:r>
            <a:r>
              <a:rPr lang="zh-CN" sz="1013">
                <a:solidFill>
                  <a:srgbClr val="94A3B8"/>
                </a:solidFill>
                <a:latin typeface="Noto Sans CJK SC"/>
                <a:ea typeface="Noto Sans CJK SC"/>
              </a:rPr>
              <a:t>自主规划——模型越强，执行越好。</a:t>
            </a:r>
            <a:endParaRPr/>
          </a:p>
        </p:txBody>
      </p:sp>
      <p:pic>
        <p:nvPicPr>
          <p:cNvPr id="2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544050" y="2295525"/>
            <a:ext cx="247650" cy="247650"/>
          </a:xfrm>
          <a:prstGeom prst="rect">
            <a:avLst/>
          </a:prstGeom>
          <a:ln/>
        </p:spPr>
      </p:pic>
      <p:sp>
        <p:nvSpPr>
          <p:cNvPr id="215" name=""/>
          <p:cNvSpPr/>
          <p:nvPr/>
        </p:nvSpPr>
        <p:spPr>
          <a:xfrm rot="0" flipH="0" flipV="0">
            <a:off x="9925050" y="1800225"/>
            <a:ext cx="1428750" cy="1247775"/>
          </a:xfrm>
          <a:prstGeom prst="roundRect">
            <a:avLst>
              <a:gd name="adj" fmla="val 916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10496550" y="1952625"/>
            <a:ext cx="285750" cy="285750"/>
          </a:xfrm>
          <a:prstGeom prst="rect">
            <a:avLst/>
          </a:prstGeom>
          <a:ln/>
        </p:spPr>
      </p:pic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0210800" y="2314575"/>
            <a:ext cx="866775" cy="2000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275" b="1">
                <a:solidFill>
                  <a:srgbClr val="0F172A"/>
                </a:solidFill>
                <a:latin typeface="Noto Sans CJK SC"/>
                <a:ea typeface="Noto Sans CJK SC"/>
              </a:rPr>
              <a:t>④ </a:t>
            </a:r>
            <a:r>
              <a:rPr lang="zh-CN" sz="1275" b="1">
                <a:solidFill>
                  <a:srgbClr val="0F172A"/>
                </a:solidFill>
                <a:latin typeface="Noto Sans CJK SC"/>
                <a:ea typeface="Noto Sans CJK SC"/>
              </a:rPr>
              <a:t>产出交付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10267950" y="2590800"/>
            <a:ext cx="742950" cy="3048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72A"/>
                </a:solidFill>
                <a:latin typeface="Noto Sans CJK SC"/>
                <a:ea typeface="Noto Sans CJK SC"/>
              </a:rPr>
              <a:t>真实交付物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72A"/>
                </a:solidFill>
                <a:latin typeface="Noto Sans CJK SC"/>
                <a:ea typeface="Noto Sans CJK SC"/>
              </a:rPr>
              <a:t>而非聊天消息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3886200"/>
            <a:ext cx="2628900" cy="2209800"/>
          </a:xfrm>
          <a:prstGeom prst="roundRect">
            <a:avLst>
              <a:gd name="adj" fmla="val 603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800100" y="4076700"/>
            <a:ext cx="228600" cy="228600"/>
          </a:xfrm>
          <a:prstGeom prst="rect">
            <a:avLst/>
          </a:prstGeom>
          <a:ln/>
        </p:spPr>
      </p:pic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1123950" y="4086225"/>
            <a:ext cx="942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Notify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通知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00100" y="4400550"/>
            <a:ext cx="2247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报告邮件、群消息卡片，产出主动推到该看的人面前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00100" y="5657850"/>
            <a:ext cx="2247900" cy="2476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Noto Sans CJK SC"/>
                <a:ea typeface="Noto Sans CJK SC"/>
              </a:rPr>
              <a:t>例：月报邮件</a:t>
            </a:r>
            <a:r>
              <a:rPr lang="en-US" sz="975">
                <a:solidFill>
                  <a:srgbClr val="22D3EE"/>
                </a:solidFill>
                <a:latin typeface="Noto Sans CJK SC"/>
                <a:ea typeface="Noto Sans CJK SC"/>
              </a:rPr>
              <a:t> / </a:t>
            </a:r>
            <a:r>
              <a:rPr lang="zh-CN" sz="975">
                <a:solidFill>
                  <a:srgbClr val="22D3EE"/>
                </a:solidFill>
                <a:latin typeface="Noto Sans CJK SC"/>
                <a:ea typeface="Noto Sans CJK SC"/>
              </a:rPr>
              <a:t>告警播报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3390900" y="3886200"/>
            <a:ext cx="2628900" cy="2209800"/>
          </a:xfrm>
          <a:prstGeom prst="roundRect">
            <a:avLst>
              <a:gd name="adj" fmla="val 603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 rot="0" flipH="0" flipV="0">
            <a:off x="3581400" y="4076700"/>
            <a:ext cx="228600" cy="228600"/>
          </a:xfrm>
          <a:prstGeom prst="rect">
            <a:avLst/>
          </a:prstGeom>
          <a:ln/>
        </p:spPr>
      </p:pic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905250" y="4086225"/>
            <a:ext cx="10572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Publish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发布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3581400" y="4400550"/>
            <a:ext cx="2247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产出写入外部系统，成为正式记录而非一次性文件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3581400" y="5657850"/>
            <a:ext cx="2247900" cy="2476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Noto Sans CJK SC"/>
                <a:ea typeface="Noto Sans CJK SC"/>
              </a:rPr>
              <a:t>例：报表入</a:t>
            </a:r>
            <a:r>
              <a:rPr lang="en-US" sz="975">
                <a:solidFill>
                  <a:srgbClr val="22D3EE"/>
                </a:solidFill>
                <a:latin typeface="Noto Sans CJK SC"/>
                <a:ea typeface="Noto Sans CJK SC"/>
              </a:rPr>
              <a:t> BI / </a:t>
            </a:r>
            <a:r>
              <a:rPr lang="zh-CN" sz="975">
                <a:solidFill>
                  <a:srgbClr val="22D3EE"/>
                </a:solidFill>
                <a:latin typeface="Noto Sans CJK SC"/>
                <a:ea typeface="Noto Sans CJK SC"/>
              </a:rPr>
              <a:t>代码入库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6172200" y="3886200"/>
            <a:ext cx="2628900" cy="2209800"/>
          </a:xfrm>
          <a:prstGeom prst="roundRect">
            <a:avLst>
              <a:gd name="adj" fmla="val 603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1"/>
              </a:ext>
            </a:extLst>
          </a:blip>
          <a:stretch>
            <a:fillRect/>
          </a:stretch>
        </p:blipFill>
        <p:spPr>
          <a:xfrm rot="0" flipH="0" flipV="0">
            <a:off x="6362700" y="4076700"/>
            <a:ext cx="228600" cy="228600"/>
          </a:xfrm>
          <a:prstGeom prst="rect">
            <a:avLst/>
          </a:prstGeom>
          <a:ln/>
        </p:spPr>
      </p:pic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686550" y="4086225"/>
            <a:ext cx="1114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Execute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执行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362700" y="4400550"/>
            <a:ext cx="2247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操作计划在真实世界落地，执行前必经人审批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362700" y="5657850"/>
            <a:ext cx="2247900" cy="2476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Noto Sans CJK SC"/>
                <a:ea typeface="Noto Sans CJK SC"/>
              </a:rPr>
              <a:t>例：重启服务</a:t>
            </a:r>
            <a:r>
              <a:rPr lang="en-US" sz="975">
                <a:solidFill>
                  <a:srgbClr val="22D3EE"/>
                </a:solidFill>
                <a:latin typeface="Noto Sans CJK SC"/>
                <a:ea typeface="Noto Sans CJK SC"/>
              </a:rPr>
              <a:t> / </a:t>
            </a:r>
            <a:r>
              <a:rPr lang="zh-CN" sz="975">
                <a:solidFill>
                  <a:srgbClr val="22D3EE"/>
                </a:solidFill>
                <a:latin typeface="Noto Sans CJK SC"/>
                <a:ea typeface="Noto Sans CJK SC"/>
              </a:rPr>
              <a:t>回滚版本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8953500" y="3886200"/>
            <a:ext cx="2628900" cy="2209800"/>
          </a:xfrm>
          <a:prstGeom prst="roundRect">
            <a:avLst>
              <a:gd name="adj" fmla="val 6034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2"/>
              </a:ext>
            </a:extLst>
          </a:blip>
          <a:stretch>
            <a:fillRect/>
          </a:stretch>
        </p:blipFill>
        <p:spPr>
          <a:xfrm rot="0" flipH="0" flipV="0">
            <a:off x="9144000" y="4076700"/>
            <a:ext cx="228600" cy="228600"/>
          </a:xfrm>
          <a:prstGeom prst="rect">
            <a:avLst/>
          </a:prstGeom>
          <a:ln/>
        </p:spPr>
      </p:pic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9467850" y="4086225"/>
            <a:ext cx="828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Host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托管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9144000" y="4400550"/>
            <a:ext cx="22479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看板、站点在空间内长期托管运行，持续可查可用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9144000" y="5657850"/>
            <a:ext cx="2247900" cy="247650"/>
          </a:xfrm>
          <a:prstGeom prst="rect"/>
        </p:spPr>
        <p:txBody>
          <a:bodyPr wrap="none" lIns="0" tIns="71438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Noto Sans CJK SC"/>
                <a:ea typeface="Noto Sans CJK SC"/>
              </a:rPr>
              <a:t>例：运营看板</a:t>
            </a:r>
            <a:r>
              <a:rPr lang="en-US" sz="975">
                <a:solidFill>
                  <a:srgbClr val="22D3EE"/>
                </a:solidFill>
                <a:latin typeface="Noto Sans CJK SC"/>
                <a:ea typeface="Noto Sans CJK SC"/>
              </a:rPr>
              <a:t> / </a:t>
            </a:r>
            <a:r>
              <a:rPr lang="zh-CN" sz="975">
                <a:solidFill>
                  <a:srgbClr val="22D3EE"/>
                </a:solidFill>
                <a:latin typeface="Noto Sans CJK SC"/>
                <a:ea typeface="Noto Sans CJK SC"/>
              </a:rPr>
              <a:t>历史档案站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34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Gyra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业务场景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Loop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05 / 12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41" name="" descr="&lt;Slide style={{ width: '1280px', height: '720px', background: '#0F172A', padding: '20px 64px', fontFamily: 'Noto Sans CJK SC, PingFang SC, Helvetica Neue, sans-serif' }}&gt;&#10;  {/* A 标题块 */}&#10;  &lt;Box style={{ height: 100, flexDirection: 'row', alignItems: 'center', gap: 16 }}&gt;&#10;    &lt;Box style={{ width: 8, height: 48, background: 'linear-gradient(180deg, #3B82F6 0%, #22D3EE 100%)', borderRadius: 4 }} /&gt;&#10;    &lt;Box&gt;&#10;      &lt;Text style={{ fontSize: 36, fontWeight: 'bold', color: '#F1F5F9' }}&gt;数据学习：每一次执行都沉淀为资产&lt;/Text&gt;&#10;      &lt;Text style={{ fontSize: 16, color: '#94A3B8', marginTop: 6 }}&gt;强制沉淀机制，让产出物不会&quot;用完即弃&quot;，而是一层层垒厚&lt;/Text&gt;&#10;    &lt;/Box&gt;&#10;  &lt;/Box&gt;&#10;  {/* B 内容区：左大图 58% + 右侧文字 */}&#10;  &lt;Box style={{ height: 520, flexDirection: 'row', gap: 32 }}&gt;&#10;    {/* 左：资产分层结构图 */}&#10;    &lt;Box style={{ width: '58%', background: '#1E293B', borderRadius: 16, border: '1px solid rgba(148,163,184,0.25)', padding: 28, flexDirection: 'row', gap: 20 }}&gt;&#10;      {/* 左侧上升箭头 */}&#10;      &lt;Box style={{ width: 64, flexDirection: 'column', alignItems: 'center', justifyContent: 'center', gap: 10 }}&gt;&#10;        &lt;FAIcon name=&quot;arrow-up&quot; style={{ fill: '#F59E0B', width: 30, height: 30 }} /&gt;&#10;        &lt;Text style={{ fontSize: 16, fontWeight: 'bold', color: '#F59E0B', textAlign: 'center', lineHeight: 1.5 }}&gt;沉&lt;br /&gt;淀&lt;br /&gt;厚&lt;br /&gt;度&lt;/Text&gt;&#10;      &lt;/Box&gt;&#10;      {/* 分层堆叠 */}&#10;      &lt;Box style={{ flex: 1, flexDirection: 'column', justifyContent: 'flex-end', gap: 10 }}&gt;&#10;        &lt;Box style={{ width: '62%', alignSelf: 'center', background: 'linear-gradient(135deg, #3B82F6 0%, #22D3EE 100%)', borderRadius: 10, padding: '11px 16px' }}&gt;&lt;Text style={{ fontSize: 15, fontWeight: 'bold', color: '#0F172A', textAlign: 'center' }}&gt;Template 模板&lt;/Text&gt;&lt;/Box&gt;&#10;        &lt;Box style={{ width: '72%', alignSelf: 'center', background: 'rgba(34,211,238,0.30)', borderRadius: 10, padding: '11px 16px', border: '1px solid rgba(34,211,238,0.5)' }}&gt;&lt;Text style={{ fontSize: 15, fontWeight: 'bold', color: '#F1F5F9', textAlign: 'center' }}&gt;Metric 指标口径&lt;/Text&gt;&lt;/Box&gt;&#10;        &lt;Box style={{ width: '82%', alignSelf: 'center', background: 'rgba(59,130,246,0.28)', borderRadius: 10, padding: '11px 16px', border: '1px solid rgba(59,130,246,0.5)' }}&gt;&lt;Text style={{ fontSize: 15, fontWeight: 'bold', color: '#F1F5F9', textAlign: 'center' }}&gt;Runbook 操作手册&lt;/Text&gt;&lt;/Box&gt;&#10;        &lt;Box style={{ width: '91%', alignSelf: 'center', background: 'rgba(59,130,246,0.18)', borderRadius: 10, padding: '11px 16px', border: '1px solid rgba(59,130,246,0.4)' }}&gt;&lt;Text style={{ fontSize: 15, fontWeight: 'bold', color: '#F1F5F9', textAlign: 'center' }}&gt;Case 历史案例&lt;/Text&gt;&lt;/Box&gt;&#10;        &lt;Box style={{ width: '100%', background: 'rgba(148,163,184,0.14)', borderRadius: 10, padding: '11px 16px', border: '1px solid rgba(148,163,184,0.35)' }}&gt;&lt;Text style={{ fontSize: 15, fontWeight: 'bold', color: '#F1F5F9', textAlign: 'center' }}&gt;Artifact 历史工件&lt;/Text&gt;&lt;/Box&gt;&#10;        &lt;Text style={{ fontSize: 13, color: '#94A3B8', textAlign: 'center', marginTop: 4 }}&gt;每次任务的产出 → 自动归类为五类资产，越垒越厚&lt;/Text&gt;&#10;      &lt;/Box&gt;&#10;    &lt;/Box&gt;&#10;    {/* 右：四个机制 */}&#10;    &lt;Box style={{ flex: 1, flexDirection: 'column', gap: 14 }}&gt;&#10;      &lt;Box style={{ flex: 1, background: 'rgba(59,130,246,0.10)', borderRadius: 14, padding: '16px 20px', border: '1px solid rgba(148,163,184,0.25)', flexDirection: 'column', justifyContent: 'center' }}&gt;&#10;        &lt;Box style={{ flexDirection: 'row', gap: 10, alignItems: 'center' }}&gt;&lt;FAIcon name=&quot;shield&quot; style={{ fill: '#F59E0B', width: 22, height: 22 }} /&gt;&lt;Text style={{ fontSize: 19, fontWeight: 'bold', color: '#F1F5F9' }}&gt;强制沉淀&lt;/Text&gt;&lt;/Box&gt;&#10;        &lt;Text style={{ fontSize: 14.5, color: '#94A3B8', lineHeight: 1.6, marginTop: 8 }}&gt;任务关闭前必须完成沉淀，没沉淀系统不放行——沉淀不是&quot;好习惯&quot;，是硬规则。&lt;/Text&gt;&#10;      &lt;/Box&gt;&#10;      &lt;Box style={{ flex: 1, background: 'rgba(59,130,246,0.10)', borderRadius: 14, padding: '16px 20px', border: '1px solid rgba(148,163,184,0.25)', flexDirection: 'column', justifyContent: 'center' }}&gt;&#10;        &lt;Box style={{ flexDirection: 'row', gap: 10, alignItems: 'center' }}&gt;&lt;FAIcon name=&quot;book&quot; style={{ fill: '#3B82F6', width: 22, height: 22 }} /&gt;&lt;Text style={{ fontSize: 19, fontWeight: 'bold', color: '#F1F5F9' }}&gt;资产自学习&lt;/Text&gt;&lt;/Box&gt;&#10;        &lt;Text style={{ fontSize: 14.5, color: '#94A3B8', lineHeight: 1.6, marginTop: 8 }}&gt;新资产自动做 spec 学习，理解结构与含义，进入语义确认流程，变成&quot;可检索、可复用&quot;的知识。&lt;/Text&gt;&#10;      &lt;/Box&gt;&#10;      &lt;Box style={{ flex: 1, background: 'rgba(59,130,246,0.10)', borderRadius: 14, padding: '16px 20px', border: '1px solid rgba(148,163,184,0.25)', flexDirection: 'column', justifyContent: 'center' }}&gt;&#10;        &lt;Box style={{ flexDirection: 'row', gap: 10, alignItems: 'center' }}&gt;&lt;FAIcon name=&quot;sync&quot; style={{ fill: '#22D3EE', width: 22, height: 22 }} /&gt;&lt;Text style={{ fontSize: 19, fontWeight: 'bold', color: '#F1F5F9' }}&gt;漂移检测&lt;/Text&gt;&lt;/Box&gt;&#10;        &lt;Text style={{ fontSize: 14.5, color: '#94A3B8', lineHeight: 1.6, marginTop: 8 }}&gt;数据口径发生变化时自动发现，生成修正提案，人确认后更新——资产始终与现实同步。&lt;/Text&gt;&#10;      &lt;/Box&gt;&#10;      &lt;Box style={{ flex: 1, background: 'rgba(59,130,246,0.10)', borderRadius: 14, padding: '16px 20px', border: '1px solid rgba(148,163,184,0.25)', flexDirection: 'column', justifyContent: 'center' }}&gt;&#10;        &lt;Box style={{ flexDirection: 'row', gap: 10, alignItems: 'center' }}&gt;&lt;FAIcon name=&quot;plus&quot; style={{ fill: '#F59E0B', width: 22, height: 22 }} /&gt;&lt;Text style={{ fontSize: 19, fontWeight: 'bold', color: '#F1F5F9' }}&gt;复用加速&lt;/Text&gt;&lt;/Box&gt;&#10;        &lt;Text style={{ fontSize: 14.5, color: '#94A3B8', lineHeight: 1.6, marginTop: 8 }}&gt;下次任务直接调用已沉淀资产，不用从零开始——执行一次，受益每次。&lt;/Text&gt;&#10;      &lt;/Box&gt;&#10;    &lt;/Box&gt;&#10;  &lt;/Box&gt;&#10;  {/* C 页脚条 */}&#10;  &lt;Box style={{ height: 60, flexDirection: 'row', justifyContent: 'space-between', alignItems: 'center' }}&gt;&#10;    &lt;Text style={{ fontSize: 14, color: '#94A3B8' }}&gt;Gyra · 业务场景 Loop&lt;/Text&gt;&#10;    &lt;Text style={{ fontSize: 14, color: '#94A3B8' }}&gt;06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43" name=""/>
          <p:cNvSpPr/>
          <p:nvPr/>
        </p:nvSpPr>
        <p:spPr>
          <a:xfrm rot="0" flipH="0" flipV="0">
            <a:off x="609600" y="438150"/>
            <a:ext cx="76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838200" y="333375"/>
            <a:ext cx="5486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数据学习：每一次执行都沉淀为资产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38200" y="809625"/>
            <a:ext cx="548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强制沉淀机制，让产出物不会</a:t>
            </a:r>
            <a:r>
              <a:rPr lang="en-US" sz="1200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用完即弃</a:t>
            </a:r>
            <a:r>
              <a:rPr lang="en-US" sz="1200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，而是一层层垒厚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09600" y="1143000"/>
            <a:ext cx="6362700" cy="495300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38225" y="2876550"/>
            <a:ext cx="285750" cy="285750"/>
          </a:xfrm>
          <a:prstGeom prst="rect">
            <a:avLst/>
          </a:prstGeom>
          <a:ln/>
        </p:spPr>
      </p:pic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04900" y="3257550"/>
            <a:ext cx="152400" cy="11049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1200" b="1">
                <a:solidFill>
                  <a:srgbClr val="F59E0B"/>
                </a:solidFill>
                <a:latin typeface="Noto Sans CJK SC"/>
                <a:ea typeface="Noto Sans CJK SC"/>
              </a:rPr>
              <a:t>沉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200" b="1">
                <a:solidFill>
                  <a:srgbClr val="F59E0B"/>
                </a:solidFill>
                <a:latin typeface="Noto Sans CJK SC"/>
                <a:ea typeface="Noto Sans CJK SC"/>
              </a:rPr>
              <a:t>淀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200" b="1">
                <a:solidFill>
                  <a:srgbClr val="F59E0B"/>
                </a:solidFill>
                <a:latin typeface="Noto Sans CJK SC"/>
                <a:ea typeface="Noto Sans CJK SC"/>
              </a:rPr>
              <a:t>厚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1200" b="1">
                <a:solidFill>
                  <a:srgbClr val="F59E0B"/>
                </a:solidFill>
                <a:latin typeface="Noto Sans CJK SC"/>
                <a:ea typeface="Noto Sans CJK SC"/>
              </a:rPr>
              <a:t>度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2628900" y="3257550"/>
            <a:ext cx="3124200" cy="3810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2781300" y="3362325"/>
            <a:ext cx="28194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0F172A"/>
                </a:solidFill>
                <a:latin typeface="Noto Sans CJK SC"/>
                <a:ea typeface="Noto Sans CJK SC"/>
              </a:rPr>
              <a:t>Template </a:t>
            </a:r>
            <a:r>
              <a:rPr lang="zh-CN" sz="1125" b="1">
                <a:solidFill>
                  <a:srgbClr val="0F172A"/>
                </a:solidFill>
                <a:latin typeface="Noto Sans CJK SC"/>
                <a:ea typeface="Noto Sans CJK SC"/>
              </a:rPr>
              <a:t>模板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2381250" y="3733800"/>
            <a:ext cx="3619500" cy="381000"/>
          </a:xfrm>
          <a:prstGeom prst="roundRect">
            <a:avLst>
              <a:gd name="adj" fmla="val 25000"/>
            </a:avLst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2533650" y="3838575"/>
            <a:ext cx="33147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1F5F9"/>
                </a:solidFill>
                <a:latin typeface="Noto Sans CJK SC"/>
                <a:ea typeface="Noto Sans CJK SC"/>
              </a:rPr>
              <a:t>Metric </a:t>
            </a:r>
            <a:r>
              <a:rPr lang="zh-CN" sz="1125" b="1">
                <a:solidFill>
                  <a:srgbClr val="F1F5F9"/>
                </a:solidFill>
                <a:latin typeface="Noto Sans CJK SC"/>
                <a:ea typeface="Noto Sans CJK SC"/>
              </a:rPr>
              <a:t>指标口径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2133600" y="4210050"/>
            <a:ext cx="411480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28000"/>
            </a:srgbClr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2286000" y="4314825"/>
            <a:ext cx="38100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1F5F9"/>
                </a:solidFill>
                <a:latin typeface="Noto Sans CJK SC"/>
                <a:ea typeface="Noto Sans CJK SC"/>
              </a:rPr>
              <a:t>Runbook </a:t>
            </a:r>
            <a:r>
              <a:rPr lang="zh-CN" sz="1125" b="1">
                <a:solidFill>
                  <a:srgbClr val="F1F5F9"/>
                </a:solidFill>
                <a:latin typeface="Noto Sans CJK SC"/>
                <a:ea typeface="Noto Sans CJK SC"/>
              </a:rPr>
              <a:t>操作手册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1905000" y="46863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18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2057400" y="4791075"/>
            <a:ext cx="42672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1F5F9"/>
                </a:solidFill>
                <a:latin typeface="Noto Sans CJK SC"/>
                <a:ea typeface="Noto Sans CJK SC"/>
              </a:rPr>
              <a:t>Case </a:t>
            </a:r>
            <a:r>
              <a:rPr lang="zh-CN" sz="1125" b="1">
                <a:solidFill>
                  <a:srgbClr val="F1F5F9"/>
                </a:solidFill>
                <a:latin typeface="Noto Sans CJK SC"/>
                <a:ea typeface="Noto Sans CJK SC"/>
              </a:rPr>
              <a:t>历史案例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1676400" y="5162550"/>
            <a:ext cx="5029200" cy="381000"/>
          </a:xfrm>
          <a:prstGeom prst="roundRect">
            <a:avLst>
              <a:gd name="adj" fmla="val 25000"/>
            </a:avLst>
          </a:prstGeom>
          <a:solidFill>
            <a:srgbClr val="94A3B8">
              <a:alpha val="14000"/>
            </a:srgbClr>
          </a:solidFill>
          <a:ln w="12700">
            <a:solidFill>
              <a:srgbClr val="94A3B8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828800" y="5267325"/>
            <a:ext cx="47244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1F5F9"/>
                </a:solidFill>
                <a:latin typeface="Noto Sans CJK SC"/>
                <a:ea typeface="Noto Sans CJK SC"/>
              </a:rPr>
              <a:t>Artifact </a:t>
            </a:r>
            <a:r>
              <a:rPr lang="zh-CN" sz="1125" b="1">
                <a:solidFill>
                  <a:srgbClr val="F1F5F9"/>
                </a:solidFill>
                <a:latin typeface="Noto Sans CJK SC"/>
                <a:ea typeface="Noto Sans CJK SC"/>
              </a:rPr>
              <a:t>历史工件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676400" y="5676900"/>
            <a:ext cx="50292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Noto Sans CJK SC"/>
                <a:ea typeface="Noto Sans CJK SC"/>
              </a:rPr>
              <a:t>每次任务的产出</a:t>
            </a:r>
            <a:r>
              <a:rPr lang="en-US" sz="975">
                <a:solidFill>
                  <a:srgbClr val="94A3B8"/>
                </a:solidFill>
                <a:latin typeface="Noto Sans CJK SC"/>
                <a:ea typeface="Noto Sans CJK SC"/>
              </a:rPr>
              <a:t> → </a:t>
            </a:r>
            <a:r>
              <a:rPr lang="zh-CN" sz="975">
                <a:solidFill>
                  <a:srgbClr val="94A3B8"/>
                </a:solidFill>
                <a:latin typeface="Noto Sans CJK SC"/>
                <a:ea typeface="Noto Sans CJK SC"/>
              </a:rPr>
              <a:t>自动归类为五类资产，越垒越厚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7277100" y="1143000"/>
            <a:ext cx="4305300" cy="1143000"/>
          </a:xfrm>
          <a:prstGeom prst="roundRect">
            <a:avLst>
              <a:gd name="adj" fmla="val 1166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467600" y="1314450"/>
            <a:ext cx="209550" cy="209550"/>
          </a:xfrm>
          <a:prstGeom prst="rect">
            <a:avLst/>
          </a:prstGeom>
          <a:ln/>
        </p:spPr>
      </p:pic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772400" y="13049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强制沉淀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467600" y="1600200"/>
            <a:ext cx="3924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94A3B8"/>
                </a:solidFill>
                <a:latin typeface="Noto Sans CJK SC"/>
                <a:ea typeface="Noto Sans CJK SC"/>
              </a:rPr>
              <a:t>任务关闭前必须完成沉淀，没沉淀系统不放行——沉淀不是</a:t>
            </a:r>
            <a:r>
              <a:rPr lang="en-US" sz="1088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088">
                <a:solidFill>
                  <a:srgbClr val="94A3B8"/>
                </a:solidFill>
                <a:latin typeface="Noto Sans CJK SC"/>
                <a:ea typeface="Noto Sans CJK SC"/>
              </a:rPr>
              <a:t>好习惯</a:t>
            </a:r>
            <a:r>
              <a:rPr lang="en-US" sz="1088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088">
                <a:solidFill>
                  <a:srgbClr val="94A3B8"/>
                </a:solidFill>
                <a:latin typeface="Noto Sans CJK SC"/>
                <a:ea typeface="Noto Sans CJK SC"/>
              </a:rPr>
              <a:t>，是硬规则。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277100" y="2419350"/>
            <a:ext cx="4305300" cy="1133475"/>
          </a:xfrm>
          <a:prstGeom prst="roundRect">
            <a:avLst>
              <a:gd name="adj" fmla="val 11765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467600" y="2581275"/>
            <a:ext cx="209550" cy="209550"/>
          </a:xfrm>
          <a:prstGeom prst="rect">
            <a:avLst/>
          </a:prstGeom>
          <a:ln/>
        </p:spPr>
      </p:pic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772400" y="257175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资产自学习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467600" y="2867025"/>
            <a:ext cx="3924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94A3B8"/>
                </a:solidFill>
                <a:latin typeface="Noto Sans CJK SC"/>
                <a:ea typeface="Noto Sans CJK SC"/>
              </a:rPr>
              <a:t>新资产自动做</a:t>
            </a:r>
            <a:r>
              <a:rPr lang="en-US" sz="1088">
                <a:solidFill>
                  <a:srgbClr val="94A3B8"/>
                </a:solidFill>
                <a:latin typeface="Noto Sans CJK SC"/>
                <a:ea typeface="Noto Sans CJK SC"/>
              </a:rPr>
              <a:t> spec </a:t>
            </a:r>
            <a:r>
              <a:rPr lang="zh-CN" sz="1088">
                <a:solidFill>
                  <a:srgbClr val="94A3B8"/>
                </a:solidFill>
                <a:latin typeface="Noto Sans CJK SC"/>
                <a:ea typeface="Noto Sans CJK SC"/>
              </a:rPr>
              <a:t>学习，理解结构与含义，进入语义确认流程，变成</a:t>
            </a:r>
            <a:r>
              <a:rPr lang="en-US" sz="1088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088">
                <a:solidFill>
                  <a:srgbClr val="94A3B8"/>
                </a:solidFill>
                <a:latin typeface="Noto Sans CJK SC"/>
                <a:ea typeface="Noto Sans CJK SC"/>
              </a:rPr>
              <a:t>可检索、可复用</a:t>
            </a:r>
            <a:r>
              <a:rPr lang="en-US" sz="1088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088">
                <a:solidFill>
                  <a:srgbClr val="94A3B8"/>
                </a:solidFill>
                <a:latin typeface="Noto Sans CJK SC"/>
                <a:ea typeface="Noto Sans CJK SC"/>
              </a:rPr>
              <a:t>的知识。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7277100" y="3686175"/>
            <a:ext cx="4305300" cy="1143000"/>
          </a:xfrm>
          <a:prstGeom prst="roundRect">
            <a:avLst>
              <a:gd name="adj" fmla="val 11667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467600" y="3857625"/>
            <a:ext cx="209550" cy="209550"/>
          </a:xfrm>
          <a:prstGeom prst="rect">
            <a:avLst/>
          </a:prstGeom>
          <a:ln/>
        </p:spPr>
      </p:pic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772400" y="38481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漂移检测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7467600" y="4143375"/>
            <a:ext cx="3924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94A3B8"/>
                </a:solidFill>
                <a:latin typeface="Noto Sans CJK SC"/>
                <a:ea typeface="Noto Sans CJK SC"/>
              </a:rPr>
              <a:t>数据口径发生变化时自动发现，生成修正提案，人确认后更新——资产始终与现实同步。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7277100" y="4962525"/>
            <a:ext cx="4305300" cy="1133475"/>
          </a:xfrm>
          <a:prstGeom prst="roundRect">
            <a:avLst>
              <a:gd name="adj" fmla="val 11765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467600" y="5124450"/>
            <a:ext cx="209550" cy="209550"/>
          </a:xfrm>
          <a:prstGeom prst="rect">
            <a:avLst/>
          </a:prstGeom>
          <a:ln/>
        </p:spPr>
      </p:pic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7772400" y="51149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复用加速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7467600" y="5410200"/>
            <a:ext cx="39243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94A3B8"/>
                </a:solidFill>
                <a:latin typeface="Noto Sans CJK SC"/>
                <a:ea typeface="Noto Sans CJK SC"/>
              </a:rPr>
              <a:t>下次任务直接调用已沉淀资产，不用从零开始——执行一次，受益每次。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34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Gyra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业务场景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Loop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06 / 12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78" name="" descr="&lt;Slide style={{ width: '1280px', height: '720px', background: '#0F172A', padding: '20px 64px', fontFamily: 'Noto Sans CJK SC, PingFang SC, Helvetica Neue, sans-serif' }}&gt;&#10;  {/* A 标题块 */}&#10;  &lt;Box style={{ height: 100, flexDirection: 'row', alignItems: 'center', gap: 16 }}&gt;&#10;    &lt;Box style={{ width: 8, height: 48, background: 'linear-gradient(180deg, #3B82F6 0%, #22D3EE 100%)', borderRadius: 4 }} /&gt;&#10;    &lt;Box&gt;&#10;      &lt;Text style={{ fontSize: 36, fontWeight: 'bold', color: '#F1F5F9' }}&gt;成长飞轮：Agent 越用越准&lt;/Text&gt;&#10;      &lt;Text style={{ fontSize: 16, color: '#94A3B8', marginTop: 6 }}&gt;跑过的任务，变成下次的加速——像人一样，边工作边长经验&lt;/Text&gt;&#10;    &lt;/Box&gt;&#10;  &lt;/Box&gt;&#10;  {/* B 内容区：非对称双栏 65:35 */}&#10;  &lt;Box style={{ height: 520, flexDirection: 'row', gap: 32 }}&gt;&#10;    {/* 左 65%：记忆进化循环 2x2 */}&#10;    &lt;Box style={{ width: '65%', background: '#1E293B', borderRadius: 16, border: '1px solid rgba(148,163,184,0.25)', padding: 28, flexDirection: 'column' }}&gt;&#10;      &lt;Text style={{ fontSize: 20, fontWeight: 'bold', color: '#22D3EE' }}&gt;记忆进化：三级节奏，边跑边沉淀&lt;/Text&gt;&#10;      &lt;Box style={{ flex: 1, marginTop: 20, flexDirection: 'column', gap: 14 }}&gt;&#10;        &lt;Box style={{ flex: 1, flexDirection: 'row', gap: 14 }}&gt;&#10;          &lt;Box style={{ flex: 1, background: 'rgba(59,130,246,0.16)', borderRadius: 12, padding: 18, border: '1px solid rgba(59,130,246,0.45)', flexDirection: 'column', justifyContent: 'center' }}&gt;&#10;            &lt;Text style={{ fontSize: 15, color: '#3B82F6', fontWeight: 'bold' }}&gt;每一轮&lt;/Text&gt;&#10;            &lt;Text style={{ fontSize: 19, fontWeight: 'bold', color: '#F1F5F9', marginTop: 4 }}&gt;随手记录&lt;/Text&gt;&#10;            &lt;Text style={{ fontSize: 13.5, color: '#94A3B8', lineHeight: 1.5, marginTop: 6 }}&gt;工作中的关键发现，轻量级随手记下，不打断干活&lt;/Text&gt;&#10;          &lt;/Box&gt;&#10;          &lt;Box style={{ justifyContent: 'center' }}&gt;&lt;FAIcon name=&quot;arrow-right&quot; style={{ fill: '#3B82F6', width: 22, height: 22 }} /&gt;&lt;/Box&gt;&#10;          &lt;Box style={{ flex: 1, background: 'rgba(59,130,246,0.16)', borderRadius: 12, padding: 18, border: '1px solid rgba(59,130,246,0.45)', flexDirection: 'column', justifyContent: 'center' }}&gt;&#10;            &lt;Text style={{ fontSize: 15, color: '#3B82F6', fontWeight: 'bold' }}&gt;每 10 轮&lt;/Text&gt;&#10;            &lt;Text style={{ fontSize: 19, fontWeight: 'bold', color: '#F1F5F9', marginTop: 4 }}&gt;反思整合&lt;/Text&gt;&#10;            &lt;Text style={{ fontSize: 13.5, color: '#94A3B8', lineHeight: 1.5, marginTop: 6 }}&gt;定期回头整理：去重、精炼，把碎片连成经验&lt;/Text&gt;&#10;          &lt;/Box&gt;&#10;        &lt;/Box&gt;&#10;        &lt;Box style={{ flexDirection: 'row' }}&gt;&#10;          &lt;Box style={{ flex: 1, alignItems: 'center' }}&gt;&lt;FAIcon name=&quot;arrow-up&quot; style={{ fill: '#F59E0B', width: 20, height: 20 }} /&gt;&lt;/Box&gt;&#10;          &lt;Box style={{ width: 36 }} /&gt;&#10;          &lt;Box style={{ flex: 1, alignItems: 'center' }}&gt;&lt;FAIcon name=&quot;arrow-down&quot; style={{ fill: '#3B82F6', width: 20, height: 20 }} /&gt;&lt;/Box&gt;&#10;        &lt;/Box&gt;&#10;        &lt;Box style={{ flex: 1, flexDirection: 'row', gap: 14 }}&gt;&#10;          &lt;Box style={{ flex: 1, background: 'rgba(34,211,238,0.14)', borderRadius: 12, padding: 18, border: '1px solid rgba(34,211,238,0.45)', flexDirection: 'column', justifyContent: 'center' }}&gt;&#10;            &lt;Text style={{ fontSize: 15, color: '#22D3EE', fontWeight: 'bold' }}&gt;下次任务&lt;/Text&gt;&#10;            &lt;Text style={{ fontSize: 19, fontWeight: 'bold', color: '#F1F5F9', marginTop: 4 }}&gt;检索加速&lt;/Text&gt;&#10;            &lt;Text style={{ fontSize: 13.5, color: '#94A3B8', lineHeight: 1.5, marginTop: 6 }}&gt;带着过去 N 次任务的经验上场，起步就是熟手&lt;/Text&gt;&#10;          &lt;/Box&gt;&#10;          &lt;Box style={{ justifyContent: 'center' }}&gt;&lt;FAIcon name=&quot;arrow-left&quot; style={{ fill: '#F59E0B', width: 22, height: 22 }} /&gt;&lt;/Box&gt;&#10;          &lt;Box style={{ flex: 1, background: 'rgba(245,158,11,0.14)', borderRadius: 12, padding: 18, border: '1px solid rgba(245,158,11,0.5)', flexDirection: 'column', justifyContent: 'center' }}&gt;&#10;            &lt;Text style={{ fontSize: 15, color: '#F59E0B', fontWeight: 'bold' }}&gt;会话结束&lt;/Text&gt;&#10;            &lt;Text style={{ fontSize: 19, fontWeight: 'bold', color: '#F1F5F9', marginTop: 4 }}&gt;晋升长期记忆&lt;/Text&gt;&#10;            &lt;Text style={{ fontSize: 13.5, color: '#94A3B8', lineHeight: 1.5, marginTop: 6 }}&gt;真正有用的经验固化下来，无用的自然沉底&lt;/Text&gt;&#10;          &lt;/Box&gt;&#10;        &lt;/Box&gt;&#10;      &lt;/Box&gt;&#10;    &lt;/Box&gt;&#10;    {/* 右 35%：大数字锚点 + 评测驱动 */}&#10;    &lt;Box style={{ flex: 1, flexDirection: 'column', gap: 18 }}&gt;&#10;      &lt;Box style={{ background: '#1E293B', borderRadius: 16, border: '1px solid rgba(245,158,11,0.4)', padding: 26, flexDirection: 'column', alignItems: 'center' }}&gt;&#10;        &lt;Text style={{ fontSize: 84, fontWeight: 'bold', color: '#F59E0B', lineHeight: 1.0 }}&gt;6&lt;span style={{ fontSize: 36 }}&gt;维&lt;/span&gt;&lt;/Text&gt;&#10;        &lt;Text style={{ fontSize: 17, color: '#F1F5F9', fontWeight: 'bold', marginTop: 8 }}&gt;评测评分模型&lt;/Text&gt;&#10;        &lt;Text style={{ fontSize: 14, color: '#94A3B8', textAlign: 'center', lineHeight: 1.6, marginTop: 8 }}&gt;相关度 · 频次 · 多样性&lt;br /&gt;时效 · 持续有用 · 概念广度&lt;/Text&gt;&#10;      &lt;/Box&gt;&#10;      &lt;Box style={{ flex: 1, background: 'rgba(59,130,246,0.10)', borderRadius: 16, border: '1px solid rgba(148,163,184,0.25)', padding: 24, flexDirection: 'column', justifyContent: 'center' }}&gt;&#10;        &lt;Text style={{ fontSize: 19, fontWeight: 'bold', color: '#F1F5F9' }}&gt;用真实使用数据说话&lt;/Text&gt;&#10;        &lt;Text style={{ fontSize: 15, color: '#94A3B8', lineHeight: 1.7, marginTop: 12 }}&gt;哪些经验被反复召回、跨很多天仍然有用，哪些就固化；晋升有门槛、每轮限量——&lt;span style={{ color: '#22D3EE' }}&gt;不是凭感觉，是凭数据&lt;/span&gt;。Agent 不再是&quot;每次从零开始&quot;。&lt;/Text&gt;&#10;      &lt;/Box&gt;&#10;    &lt;/Box&gt;&#10;  &lt;/Box&gt;&#10;  {/* C 页脚条 */}&#10;  &lt;Box style={{ height: 60, flexDirection: 'row', justifyContent: 'space-between', alignItems: 'center' }}&gt;&#10;    &lt;Text style={{ fontSize: 14, color: '#94A3B8' }}&gt;Gyra · 业务场景 Loop&lt;/Text&gt;&#10;    &lt;Text style={{ fontSize: 14, color: '#94A3B8' }}&gt;07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609600" y="438150"/>
            <a:ext cx="76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38200" y="333375"/>
            <a:ext cx="41624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成长飞轮：</a:t>
            </a:r>
            <a:r>
              <a:rPr lang="en-US" sz="2700" b="1">
                <a:solidFill>
                  <a:srgbClr val="F1F5F9"/>
                </a:solidFill>
                <a:latin typeface="Noto Sans CJK SC"/>
                <a:ea typeface="Noto Sans CJK SC"/>
              </a:rPr>
              <a:t>Agent </a:t>
            </a: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越用越准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38200" y="809625"/>
            <a:ext cx="416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跑过的任务，变成下次的加速——像人一样，边工作边长经验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09600" y="1143000"/>
            <a:ext cx="7134225" cy="495300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876300" y="1409700"/>
            <a:ext cx="6600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D3EE"/>
                </a:solidFill>
                <a:latin typeface="Noto Sans CJK SC"/>
                <a:ea typeface="Noto Sans CJK SC"/>
              </a:rPr>
              <a:t>记忆进化：三级节奏，边跑边沉淀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876300" y="1828800"/>
            <a:ext cx="3067050" cy="1885950"/>
          </a:xfrm>
          <a:prstGeom prst="roundRect">
            <a:avLst>
              <a:gd name="adj" fmla="val 6061"/>
            </a:avLst>
          </a:prstGeom>
          <a:solidFill>
            <a:srgbClr val="3B82F6">
              <a:alpha val="16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047750" y="2295525"/>
            <a:ext cx="2724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B82F6"/>
                </a:solidFill>
                <a:latin typeface="Noto Sans CJK SC"/>
                <a:ea typeface="Noto Sans CJK SC"/>
              </a:rPr>
              <a:t>每一轮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047750" y="2505075"/>
            <a:ext cx="2724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随手记录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047750" y="2781300"/>
            <a:ext cx="27241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13">
                <a:solidFill>
                  <a:srgbClr val="94A3B8"/>
                </a:solidFill>
                <a:latin typeface="Noto Sans CJK SC"/>
                <a:ea typeface="Noto Sans CJK SC"/>
              </a:rPr>
              <a:t>工作中的关键发现，轻量级随手记下，不打断干活</a:t>
            </a:r>
            <a:endParaRPr/>
          </a:p>
        </p:txBody>
      </p:sp>
      <p:pic>
        <p:nvPicPr>
          <p:cNvPr id="2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76700" y="2667000"/>
            <a:ext cx="209550" cy="209550"/>
          </a:xfrm>
          <a:prstGeom prst="rect">
            <a:avLst/>
          </a:prstGeom>
          <a:ln/>
        </p:spPr>
      </p:pic>
      <p:sp>
        <p:nvSpPr>
          <p:cNvPr id="290" name=""/>
          <p:cNvSpPr/>
          <p:nvPr/>
        </p:nvSpPr>
        <p:spPr>
          <a:xfrm rot="0" flipH="0" flipV="0">
            <a:off x="4419600" y="1828800"/>
            <a:ext cx="3057525" cy="1885950"/>
          </a:xfrm>
          <a:prstGeom prst="roundRect">
            <a:avLst>
              <a:gd name="adj" fmla="val 6061"/>
            </a:avLst>
          </a:prstGeom>
          <a:solidFill>
            <a:srgbClr val="3B82F6">
              <a:alpha val="16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591050" y="2409825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3B82F6"/>
                </a:solidFill>
                <a:latin typeface="Noto Sans CJK SC"/>
                <a:ea typeface="Noto Sans CJK SC"/>
              </a:rPr>
              <a:t>每</a:t>
            </a:r>
            <a:r>
              <a:rPr lang="en-US" sz="1125" b="1">
                <a:solidFill>
                  <a:srgbClr val="3B82F6"/>
                </a:solidFill>
                <a:latin typeface="Noto Sans CJK SC"/>
                <a:ea typeface="Noto Sans CJK SC"/>
              </a:rPr>
              <a:t> 10 </a:t>
            </a:r>
            <a:r>
              <a:rPr lang="zh-CN" sz="1125" b="1">
                <a:solidFill>
                  <a:srgbClr val="3B82F6"/>
                </a:solidFill>
                <a:latin typeface="Noto Sans CJK SC"/>
                <a:ea typeface="Noto Sans CJK SC"/>
              </a:rPr>
              <a:t>轮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591050" y="2619375"/>
            <a:ext cx="2714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反思整合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591050" y="2895600"/>
            <a:ext cx="27146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94A3B8"/>
                </a:solidFill>
                <a:latin typeface="Noto Sans CJK SC"/>
                <a:ea typeface="Noto Sans CJK SC"/>
              </a:rPr>
              <a:t>定期回头整理：去重、精炼，把碎片连成经验</a:t>
            </a:r>
            <a:endParaRPr/>
          </a:p>
        </p:txBody>
      </p:sp>
      <p:pic>
        <p:nvPicPr>
          <p:cNvPr id="2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2352675" y="3848100"/>
            <a:ext cx="190500" cy="190500"/>
          </a:xfrm>
          <a:prstGeom prst="rect">
            <a:avLst/>
          </a:prstGeom>
          <a:ln/>
        </p:spPr>
      </p:pic>
      <p:pic>
        <p:nvPicPr>
          <p:cNvPr id="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819775" y="3848100"/>
            <a:ext cx="190500" cy="190500"/>
          </a:xfrm>
          <a:prstGeom prst="rect">
            <a:avLst/>
          </a:prstGeom>
          <a:ln/>
        </p:spPr>
      </p:pic>
      <p:sp>
        <p:nvSpPr>
          <p:cNvPr id="296" name=""/>
          <p:cNvSpPr/>
          <p:nvPr/>
        </p:nvSpPr>
        <p:spPr>
          <a:xfrm rot="0" flipH="0" flipV="0">
            <a:off x="876300" y="4171950"/>
            <a:ext cx="3067050" cy="1657350"/>
          </a:xfrm>
          <a:prstGeom prst="roundRect">
            <a:avLst>
              <a:gd name="adj" fmla="val 6897"/>
            </a:avLst>
          </a:prstGeom>
          <a:solidFill>
            <a:srgbClr val="22D3EE">
              <a:alpha val="14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047750" y="4638675"/>
            <a:ext cx="2724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2D3EE"/>
                </a:solidFill>
                <a:latin typeface="Noto Sans CJK SC"/>
                <a:ea typeface="Noto Sans CJK SC"/>
              </a:rPr>
              <a:t>下次任务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047750" y="4848225"/>
            <a:ext cx="2724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检索加速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1047750" y="5124450"/>
            <a:ext cx="27241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94A3B8"/>
                </a:solidFill>
                <a:latin typeface="Noto Sans CJK SC"/>
                <a:ea typeface="Noto Sans CJK SC"/>
              </a:rPr>
              <a:t>带着过去</a:t>
            </a:r>
            <a:r>
              <a:rPr lang="en-US" sz="1013">
                <a:solidFill>
                  <a:srgbClr val="94A3B8"/>
                </a:solidFill>
                <a:latin typeface="Noto Sans CJK SC"/>
                <a:ea typeface="Noto Sans CJK SC"/>
              </a:rPr>
              <a:t> N </a:t>
            </a:r>
            <a:r>
              <a:rPr lang="zh-CN" sz="1013">
                <a:solidFill>
                  <a:srgbClr val="94A3B8"/>
                </a:solidFill>
                <a:latin typeface="Noto Sans CJK SC"/>
                <a:ea typeface="Noto Sans CJK SC"/>
              </a:rPr>
              <a:t>次任务的经验上场，起步就是熟手</a:t>
            </a:r>
            <a:endParaRPr/>
          </a:p>
        </p:txBody>
      </p:sp>
      <p:pic>
        <p:nvPicPr>
          <p:cNvPr id="3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076700" y="4895850"/>
            <a:ext cx="209550" cy="209550"/>
          </a:xfrm>
          <a:prstGeom prst="rect">
            <a:avLst/>
          </a:prstGeom>
          <a:ln/>
        </p:spPr>
      </p:pic>
      <p:sp>
        <p:nvSpPr>
          <p:cNvPr id="301" name=""/>
          <p:cNvSpPr/>
          <p:nvPr/>
        </p:nvSpPr>
        <p:spPr>
          <a:xfrm rot="0" flipH="0" flipV="0">
            <a:off x="4419600" y="4171950"/>
            <a:ext cx="3057525" cy="1657350"/>
          </a:xfrm>
          <a:prstGeom prst="roundRect">
            <a:avLst>
              <a:gd name="adj" fmla="val 6897"/>
            </a:avLst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591050" y="4638675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Noto Sans CJK SC"/>
                <a:ea typeface="Noto Sans CJK SC"/>
              </a:rPr>
              <a:t>会话结束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591050" y="4848225"/>
            <a:ext cx="2714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晋升长期记忆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591050" y="5124450"/>
            <a:ext cx="27146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94A3B8"/>
                </a:solidFill>
                <a:latin typeface="Noto Sans CJK SC"/>
                <a:ea typeface="Noto Sans CJK SC"/>
              </a:rPr>
              <a:t>真正有用的经验固化下来，无用的自然沉底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8048625" y="1143000"/>
            <a:ext cx="3533775" cy="2324100"/>
          </a:xfrm>
          <a:prstGeom prst="roundRect">
            <a:avLst>
              <a:gd name="adj" fmla="val 6557"/>
            </a:avLst>
          </a:prstGeom>
          <a:solidFill>
            <a:srgbClr val="1E293B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9401175" y="1390650"/>
            <a:ext cx="828675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F59E0B"/>
                </a:solidFill>
                <a:latin typeface="Noto Sans CJK SC"/>
                <a:ea typeface="Noto Sans CJK SC"/>
              </a:rPr>
              <a:t>6</a:t>
            </a:r>
            <a:r>
              <a:rPr lang="zh-CN" sz="2700" b="1">
                <a:solidFill>
                  <a:srgbClr val="F59E0B"/>
                </a:solidFill>
                <a:latin typeface="Noto Sans CJK SC"/>
                <a:ea typeface="Noto Sans CJK SC"/>
              </a:rPr>
              <a:t>维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9334500" y="2428875"/>
            <a:ext cx="971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1F5F9"/>
                </a:solidFill>
                <a:latin typeface="Noto Sans CJK SC"/>
                <a:ea typeface="Noto Sans CJK SC"/>
              </a:rPr>
              <a:t>评测评分模型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991600" y="2705100"/>
            <a:ext cx="1647825" cy="514350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相关度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频次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多样性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时效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持续有用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概念广度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8048625" y="3638550"/>
            <a:ext cx="3533775" cy="2457450"/>
          </a:xfrm>
          <a:prstGeom prst="roundRect">
            <a:avLst>
              <a:gd name="adj" fmla="val 620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277225" y="4267200"/>
            <a:ext cx="30765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用真实使用数据说话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277225" y="4600575"/>
            <a:ext cx="307657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哪些经验被反复召回、跨很多天仍然有用，哪些就固化；晋升有门槛、每轮限量——</a:t>
            </a:r>
            <a:r>
              <a:rPr lang="zh-CN" sz="1125">
                <a:solidFill>
                  <a:srgbClr val="22D3EE"/>
                </a:solidFill>
                <a:latin typeface="Noto Sans CJK SC"/>
                <a:ea typeface="Noto Sans CJK SC"/>
              </a:rPr>
              <a:t>不是凭感觉，是凭数据</a:t>
            </a: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。</a:t>
            </a:r>
            <a:r>
              <a:rPr lang="en-US" sz="1125">
                <a:solidFill>
                  <a:srgbClr val="94A3B8"/>
                </a:solidFill>
                <a:latin typeface="Noto Sans CJK SC"/>
                <a:ea typeface="Noto Sans CJK SC"/>
              </a:rPr>
              <a:t>Agent </a:t>
            </a: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不再是</a:t>
            </a:r>
            <a:r>
              <a:rPr lang="en-US" sz="1125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每次从零开始</a:t>
            </a:r>
            <a:r>
              <a:rPr lang="en-US" sz="1125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。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34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Gyra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业务场景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Loop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1134725" y="630555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07 / 12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14" name="" descr="&lt;Slide style={{ width: '1280px', height: '720px', background: '#0F172A', padding: '20px 64px', fontFamily: 'Noto Sans CJK SC, PingFang SC, Helvetica Neue, sans-serif' }}&gt;&#10;  {/* A 标题块 */}&#10;  &lt;Box style={{ height: 100, flexDirection: 'row', alignItems: 'center', gap: 16 }}&gt;&#10;    &lt;Box style={{ width: 8, height: 48, background: 'linear-gradient(180deg, #3B82F6 0%, #22D3EE 100%)', borderRadius: 4 }} /&gt;&#10;    &lt;Box&gt;&#10;      &lt;Text style={{ fontSize: 36, fontWeight: 'bold', color: '#F1F5F9' }}&gt;人机分工：人在阀门上，不在流水线里&lt;/Text&gt;&#10;      &lt;Text style={{ fontSize: 16, color: '#94A3B8', marginTop: 6 }}&gt;Agent 自动跑，需要人时变成一条待办，出现在该出现的人面前&lt;/Text&gt;&#10;    &lt;/Box&gt;&#10;  &lt;/Box&gt;&#10;  {/* B 内容区：左标题 + 右内容 */}&#10;  &lt;Box style={{ height: 520, flexDirection: 'row', gap: 32 }}&gt;&#10;    {/* 左侧金句栏 */}&#10;    &lt;Box style={{ width: '32%', background: '#1E293B', borderRadius: 16, padding: 36, border: '1px solid rgba(148,163,184,0.25)', flexDirection: 'column', justifyContent: 'space-between' }}&gt;&#10;      &lt;Text style={{ fontSize: 28, fontWeight: 'bold', color: '#F1F5F9', lineHeight: 1.6 }}&gt;「人不在&lt;br /&gt;流水线里，&lt;br /&gt;人在流水线的&lt;br /&gt;&lt;span style={{ color: '#F59E0B' }}&gt;阀门&lt;/span&gt;上。」&lt;/Text&gt;&#10;      &lt;Box style={{ marginTop: 'auto', paddingTop: 20, borderTop: '1px solid rgba(148,163,184,0.25)' }}&gt;&#10;        &lt;Text style={{ fontSize: 16, color: '#94A3B8', lineHeight: 1.7 }}&gt;所有需要人的节点，汇入&lt;span style={{ color: '#22D3EE' }}&gt;同一个收件箱&lt;/span&gt;。人处理完阀门，流水线继续自动跑。&lt;/Text&gt;&#10;      &lt;/Box&gt;&#10;    &lt;/Box&gt;&#10;    {/* 右侧阀门流程 */}&#10;    &lt;Box style={{ flex: 1, flexDirection: 'column', gap: 12 }}&gt;&#10;      &lt;Box style={{ flex: 1, background: 'rgba(59,130,246,0.10)', borderRadius: 12, padding: '14px 22px', border: '1px solid rgba(148,163,184,0.25)', flexDirection: 'row', gap: 16, alignItems: 'center' }}&gt;&#10;        &lt;FAIcon name=&quot;cog&quot; style={{ fill: '#3B82F6', width: 26, height: 26 }} /&gt;&#10;        &lt;Box style={{ flex: 1 }}&gt;&#10;          &lt;Text style={{ fontSize: 18, fontWeight: 'bold', color: '#F1F5F9' }}&gt;Agent 自动执行&lt;/Text&gt;&#10;          &lt;Text style={{ fontSize: 14, color: '#94A3B8', marginTop: 2 }}&gt;触发、取数、分析、成稿，全程无需人盯&lt;/Text&gt;&#10;        &lt;/Box&gt;&#10;      &lt;/Box&gt;&#10;      &lt;Box style={{ alignItems: 'center' }}&gt;&lt;FAIcon name=&quot;arrow-down&quot; style={{ fill: '#3B82F6', width: 18, height: 18 }} /&gt;&lt;/Box&gt;&#10;      &lt;Box style={{ flex: 1, background: 'rgba(245,158,11,0.10)', borderRadius: 12, padding: '14px 22px', border: '1px solid rgba(245,158,11,0.45)', flexDirection: 'row', gap: 16, alignItems: 'center' }}&gt;&#10;        &lt;FAIcon name=&quot;exclamation-circle&quot; style={{ fill: '#F59E0B', width: 26, height: 26 }} /&gt;&#10;        &lt;Box style={{ flex: 1 }}&gt;&#10;          &lt;Text style={{ fontSize: 18, fontWeight: 'bold', color: '#F1F5F9' }}&gt;碰到阀门，自动挂起&lt;/Text&gt;&#10;          &lt;Text style={{ fontSize: 14, color: '#94A3B8', marginTop: 2 }}&gt;执行审批 · 语义确认 · 交付审批 · 异常复核，四类阀门&lt;/Text&gt;&#10;        &lt;/Box&gt;&#10;      &lt;/Box&gt;&#10;      &lt;Box style={{ alignItems: 'center' }}&gt;&lt;FAIcon name=&quot;arrow-down&quot; style={{ fill: '#3B82F6', width: 18, height: 18 }} /&gt;&lt;/Box&gt;&#10;      &lt;Box style={{ flex: 1, background: 'rgba(34,211,238,0.10)', borderRadius: 12, padding: '14px 22px', border: '1px solid rgba(34,211,238,0.45)', flexDirection: 'row', gap: 16, alignItems: 'center' }}&gt;&#10;        &lt;FAIcon name=&quot;envelope&quot; style={{ fill: '#22D3EE', width: 26, height: 26 }} /&gt;&#10;        &lt;Box style={{ flex: 1 }}&gt;&#10;          &lt;Text style={{ fontSize: 18, fontWeight: 'bold', color: '#F1F5F9' }}&gt;一条待办，进收件箱&lt;/Text&gt;&#10;          &lt;Text style={{ fontSize: 14, color: '#94A3B8', marginTop: 2 }}&gt;该谁处理就出现在谁的收件箱，附带上下文与建议&lt;/Text&gt;&#10;        &lt;/Box&gt;&#10;      &lt;/Box&gt;&#10;      &lt;Box style={{ alignItems: 'center' }}&gt;&lt;FAIcon name=&quot;arrow-down&quot; style={{ fill: '#3B82F6', width: 18, height: 18 }} /&gt;&lt;/Box&gt;&#10;      &lt;Box style={{ flex: 1, background: 'rgba(59,130,246,0.10)', borderRadius: 12, padding: '14px 22px', border: '1px solid rgba(148,163,184,0.25)', flexDirection: 'row', gap: 16, alignItems: 'center' }}&gt;&#10;        &lt;FAIcon name=&quot;check-circle&quot; style={{ fill: '#3B82F6', width: 26, height: 26 }} /&gt;&#10;        &lt;Box style={{ flex: 1 }}&gt;&#10;          &lt;Text style={{ fontSize: 18, fontWeight: 'bold', color: '#F1F5F9' }}&gt;人一确认，流程继续&lt;/Text&gt;&#10;          &lt;Text style={{ fontSize: 14, color: '#94A3B8', marginTop: 2 }}&gt;解除挂起，Agent 接着跑完剩下的路&lt;/Text&gt;&#10;        &lt;/Box&gt;&#10;      &lt;/Box&gt;&#10;      &lt;Box style={{ background: 'rgba(245,158,11,0.08)', border: '1px dashed rgba(245,158,11,0.5)', borderRadius: 12, padding: '12px 20px', flexDirection: 'row', gap: 10, alignItems: 'center' }}&gt;&#10;        &lt;FAIcon name=&quot;lock&quot; style={{ fill: '#F59E0B', width: 18, height: 18 }} /&gt;&#10;        &lt;Text style={{ fontSize: 15, color: '#F1F5F9' }}&gt;&lt;span style={{ color: '#F59E0B', fontWeight: 'bold' }}&gt;红线&lt;/span&gt;：改剧本、定口径、动真实系统——AI 只提议，人永远审批&lt;/Text&gt;&#10;      &lt;/Box&gt;&#10;    &lt;/Box&gt;&#10;  &lt;/Box&gt;&#10;  {/* C 页脚条 */}&#10;  &lt;Box style={{ height: 60, flexDirection: 'row', justifyContent: 'space-between', alignItems: 'center' }}&gt;&#10;    &lt;Text style={{ fontSize: 14, color: '#94A3B8' }}&gt;Gyra · 业务场景 Loop&lt;/Text&gt;&#10;    &lt;Text style={{ fontSize: 14, color: '#94A3B8' }}&gt;08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609600" y="438150"/>
            <a:ext cx="76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38200" y="333375"/>
            <a:ext cx="5829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人机分工：人在阀门上，不在流水线里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38200" y="809625"/>
            <a:ext cx="5829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Noto Sans CJK SC"/>
                <a:ea typeface="Noto Sans CJK SC"/>
              </a:rPr>
              <a:t>Agent </a:t>
            </a: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自动跑，需要人时变成一条待办，出现在该出现的人面前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609600" y="1143000"/>
            <a:ext cx="3514725" cy="4953000"/>
          </a:xfrm>
          <a:prstGeom prst="roundRect">
            <a:avLst>
              <a:gd name="adj" fmla="val 4336"/>
            </a:avLst>
          </a:prstGeom>
          <a:solidFill>
            <a:srgbClr val="1E293B"/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952500" y="1485900"/>
            <a:ext cx="2828925" cy="20574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2100" b="1">
                <a:solidFill>
                  <a:srgbClr val="F1F5F9"/>
                </a:solidFill>
                <a:latin typeface="Noto Sans CJK SC"/>
                <a:ea typeface="Noto Sans CJK SC"/>
              </a:rPr>
              <a:t>「人不在</a:t>
            </a:r>
            <a:endParaRPr/>
          </a:p>
          <a:p>
            <a:pPr>
              <a:lnSpc>
                <a:spcPct val="160000"/>
              </a:lnSpc>
            </a:pPr>
            <a:r>
              <a:rPr lang="zh-CN" sz="2100" b="1">
                <a:solidFill>
                  <a:srgbClr val="F1F5F9"/>
                </a:solidFill>
                <a:latin typeface="Noto Sans CJK SC"/>
                <a:ea typeface="Noto Sans CJK SC"/>
              </a:rPr>
              <a:t>流水线里，</a:t>
            </a:r>
            <a:endParaRPr/>
          </a:p>
          <a:p>
            <a:pPr>
              <a:lnSpc>
                <a:spcPct val="160000"/>
              </a:lnSpc>
            </a:pPr>
            <a:r>
              <a:rPr lang="zh-CN" sz="2100" b="1">
                <a:solidFill>
                  <a:srgbClr val="F1F5F9"/>
                </a:solidFill>
                <a:latin typeface="Noto Sans CJK SC"/>
                <a:ea typeface="Noto Sans CJK SC"/>
              </a:rPr>
              <a:t>人在流水线的</a:t>
            </a:r>
            <a:endParaRPr/>
          </a:p>
          <a:p>
            <a:pPr>
              <a:lnSpc>
                <a:spcPct val="160000"/>
              </a:lnSpc>
            </a:pPr>
            <a:r>
              <a:rPr lang="zh-CN" sz="2100" b="1">
                <a:solidFill>
                  <a:srgbClr val="F59E0B"/>
                </a:solidFill>
                <a:latin typeface="Noto Sans CJK SC"/>
                <a:ea typeface="Noto Sans CJK SC"/>
              </a:rPr>
              <a:t>阀门</a:t>
            </a:r>
            <a:r>
              <a:rPr lang="zh-CN" sz="2100" b="1">
                <a:solidFill>
                  <a:srgbClr val="F1F5F9"/>
                </a:solidFill>
                <a:latin typeface="Noto Sans CJK SC"/>
                <a:ea typeface="Noto Sans CJK SC"/>
              </a:rPr>
              <a:t>上。」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952500" y="4924425"/>
            <a:ext cx="2828925" cy="838200"/>
          </a:xfrm>
          <a:custGeom>
            <a:pathLst>
              <a:path w="297" h="88">
                <a:moveTo>
                  <a:pt x="0" y="0"/>
                </a:moveTo>
                <a:lnTo>
                  <a:pt x="297" y="0"/>
                </a:lnTo>
                <a:lnTo>
                  <a:pt x="297" y="1"/>
                </a:lnTo>
                <a:lnTo>
                  <a:pt x="0" y="1"/>
                </a:lnTo>
                <a:close/>
              </a:path>
            </a:pathLst>
          </a:custGeom>
          <a:solidFill>
            <a:srgbClr val="94A3B8">
              <a:alpha val="25000"/>
            </a:srgbClr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952500" y="5124450"/>
            <a:ext cx="28289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所有需要人的节点，汇入</a:t>
            </a:r>
            <a:r>
              <a:rPr lang="zh-CN" sz="1200">
                <a:solidFill>
                  <a:srgbClr val="22D3EE"/>
                </a:solidFill>
                <a:latin typeface="Noto Sans CJK SC"/>
                <a:ea typeface="Noto Sans CJK SC"/>
              </a:rPr>
              <a:t>同一个收件箱</a:t>
            </a: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。人处理完阀门，流水线继续自动跑。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429125" y="1143000"/>
            <a:ext cx="7153275" cy="809625"/>
          </a:xfrm>
          <a:prstGeom prst="roundRect">
            <a:avLst>
              <a:gd name="adj" fmla="val 1411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638675" y="1428750"/>
            <a:ext cx="247650" cy="247650"/>
          </a:xfrm>
          <a:prstGeom prst="rect">
            <a:avLst/>
          </a:prstGeom>
          <a:ln/>
        </p:spPr>
      </p:pic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038725" y="1352550"/>
            <a:ext cx="6334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1F5F9"/>
                </a:solidFill>
                <a:latin typeface="Noto Sans CJK SC"/>
                <a:ea typeface="Noto Sans CJK SC"/>
              </a:rPr>
              <a:t>Agent </a:t>
            </a:r>
            <a:r>
              <a:rPr lang="zh-CN" sz="1350" b="1">
                <a:solidFill>
                  <a:srgbClr val="F1F5F9"/>
                </a:solidFill>
                <a:latin typeface="Noto Sans CJK SC"/>
                <a:ea typeface="Noto Sans CJK SC"/>
              </a:rPr>
              <a:t>自动执行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038725" y="1581150"/>
            <a:ext cx="6334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触发、取数、分析、成稿，全程无需人盯</a:t>
            </a:r>
            <a:endParaRPr/>
          </a:p>
        </p:txBody>
      </p:sp>
      <p:pic>
        <p:nvPicPr>
          <p:cNvPr id="3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24800" y="2066925"/>
            <a:ext cx="171450" cy="171450"/>
          </a:xfrm>
          <a:prstGeom prst="rect">
            <a:avLst/>
          </a:prstGeom>
          <a:ln/>
        </p:spPr>
      </p:pic>
      <p:sp>
        <p:nvSpPr>
          <p:cNvPr id="328" name=""/>
          <p:cNvSpPr/>
          <p:nvPr/>
        </p:nvSpPr>
        <p:spPr>
          <a:xfrm rot="0" flipH="0" flipV="0">
            <a:off x="4429125" y="2352675"/>
            <a:ext cx="7153275" cy="809625"/>
          </a:xfrm>
          <a:prstGeom prst="roundRect">
            <a:avLst>
              <a:gd name="adj" fmla="val 14118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638675" y="2638425"/>
            <a:ext cx="247650" cy="247650"/>
          </a:xfrm>
          <a:prstGeom prst="rect">
            <a:avLst/>
          </a:prstGeom>
          <a:ln/>
        </p:spPr>
      </p:pic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5038725" y="2562225"/>
            <a:ext cx="6334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Noto Sans CJK SC"/>
                <a:ea typeface="Noto Sans CJK SC"/>
              </a:rPr>
              <a:t>碰到阀门，自动挂起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5038725" y="2790825"/>
            <a:ext cx="6334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执行审批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语义确认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交付审批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异常复核，四类阀门</a:t>
            </a:r>
            <a:endParaRPr/>
          </a:p>
        </p:txBody>
      </p:sp>
      <p:pic>
        <p:nvPicPr>
          <p:cNvPr id="3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24800" y="3276600"/>
            <a:ext cx="171450" cy="171450"/>
          </a:xfrm>
          <a:prstGeom prst="rect">
            <a:avLst/>
          </a:prstGeom>
          <a:ln/>
        </p:spPr>
      </p:pic>
      <p:sp>
        <p:nvSpPr>
          <p:cNvPr id="333" name=""/>
          <p:cNvSpPr/>
          <p:nvPr/>
        </p:nvSpPr>
        <p:spPr>
          <a:xfrm rot="0" flipH="0" flipV="0">
            <a:off x="4429125" y="3562350"/>
            <a:ext cx="7153275" cy="809625"/>
          </a:xfrm>
          <a:prstGeom prst="roundRect">
            <a:avLst>
              <a:gd name="adj" fmla="val 14118"/>
            </a:avLst>
          </a:prstGeom>
          <a:solidFill>
            <a:srgbClr val="22D3EE">
              <a:alpha val="10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638675" y="3848100"/>
            <a:ext cx="247650" cy="247650"/>
          </a:xfrm>
          <a:prstGeom prst="rect">
            <a:avLst/>
          </a:prstGeom>
          <a:ln/>
        </p:spPr>
      </p:pic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5038725" y="3771900"/>
            <a:ext cx="6334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Noto Sans CJK SC"/>
                <a:ea typeface="Noto Sans CJK SC"/>
              </a:rPr>
              <a:t>一条待办，进收件箱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5038725" y="4000500"/>
            <a:ext cx="6334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该谁处理就出现在谁的收件箱，附带上下文与建议</a:t>
            </a:r>
            <a:endParaRPr/>
          </a:p>
        </p:txBody>
      </p:sp>
      <p:pic>
        <p:nvPicPr>
          <p:cNvPr id="3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24800" y="4486275"/>
            <a:ext cx="171450" cy="171450"/>
          </a:xfrm>
          <a:prstGeom prst="rect">
            <a:avLst/>
          </a:prstGeom>
          <a:ln/>
        </p:spPr>
      </p:pic>
      <p:sp>
        <p:nvSpPr>
          <p:cNvPr id="338" name=""/>
          <p:cNvSpPr/>
          <p:nvPr/>
        </p:nvSpPr>
        <p:spPr>
          <a:xfrm rot="0" flipH="0" flipV="0">
            <a:off x="4429125" y="4772025"/>
            <a:ext cx="7153275" cy="809625"/>
          </a:xfrm>
          <a:prstGeom prst="roundRect">
            <a:avLst>
              <a:gd name="adj" fmla="val 1411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638675" y="5057775"/>
            <a:ext cx="247650" cy="247650"/>
          </a:xfrm>
          <a:prstGeom prst="rect">
            <a:avLst/>
          </a:prstGeom>
          <a:ln/>
        </p:spPr>
      </p:pic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5038725" y="4981575"/>
            <a:ext cx="6334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Noto Sans CJK SC"/>
                <a:ea typeface="Noto Sans CJK SC"/>
              </a:rPr>
              <a:t>人一确认，流程继续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5038725" y="5210175"/>
            <a:ext cx="6334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解除挂起，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Agent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接着跑完剩下的路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429125" y="5695950"/>
            <a:ext cx="7153275" cy="400050"/>
          </a:xfrm>
          <a:prstGeom prst="roundRect">
            <a:avLst>
              <a:gd name="adj" fmla="val 28571"/>
            </a:avLst>
          </a:prstGeom>
          <a:solidFill>
            <a:srgbClr val="F59E0B">
              <a:alpha val="8000"/>
            </a:srgbClr>
          </a:solidFill>
          <a:ln w="12700">
            <a:solidFill>
              <a:srgbClr val="F59E0B">
                <a:alpha val="50000"/>
              </a:srgbClr>
            </a:solidFill>
            <a:prstDash val="dash"/>
          </a:ln>
        </p:spPr>
        <p:txBody>
          <a:bodyPr/>
          <a:p/>
        </p:txBody>
      </p:sp>
      <p:pic>
        <p:nvPicPr>
          <p:cNvPr id="3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4619625" y="5810250"/>
            <a:ext cx="171450" cy="171450"/>
          </a:xfrm>
          <a:prstGeom prst="rect">
            <a:avLst/>
          </a:prstGeom>
          <a:ln/>
        </p:spPr>
      </p:pic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886325" y="5810250"/>
            <a:ext cx="4038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59E0B"/>
                </a:solidFill>
                <a:latin typeface="Noto Sans CJK SC"/>
                <a:ea typeface="Noto Sans CJK SC"/>
              </a:rPr>
              <a:t>红线</a:t>
            </a:r>
            <a:r>
              <a:rPr lang="zh-CN" sz="1125">
                <a:solidFill>
                  <a:srgbClr val="F1F5F9"/>
                </a:solidFill>
                <a:latin typeface="Noto Sans CJK SC"/>
                <a:ea typeface="Noto Sans CJK SC"/>
              </a:rPr>
              <a:t>：改剧本、定口径、动真实系统——</a:t>
            </a:r>
            <a:r>
              <a:rPr lang="en-US" sz="1125">
                <a:solidFill>
                  <a:srgbClr val="F1F5F9"/>
                </a:solidFill>
                <a:latin typeface="Noto Sans CJK SC"/>
                <a:ea typeface="Noto Sans CJK SC"/>
              </a:rPr>
              <a:t>AI </a:t>
            </a:r>
            <a:r>
              <a:rPr lang="zh-CN" sz="1125">
                <a:solidFill>
                  <a:srgbClr val="F1F5F9"/>
                </a:solidFill>
                <a:latin typeface="Noto Sans CJK SC"/>
                <a:ea typeface="Noto Sans CJK SC"/>
              </a:rPr>
              <a:t>只提议，人永远审批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34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Gyra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业务场景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Loop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08 / 12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47" name="" descr="&lt;Slide style={{ width: '1280px', height: '720px', background: '#0F172A', padding: '20px 64px', fontFamily: 'Noto Sans CJK SC, PingFang SC, Helvetica Neue, sans-serif' }}&gt;&#10;  {/* A 标题块 */}&#10;  &lt;Box style={{ height: 100, flexDirection: 'row', alignItems: 'center', gap: 16 }}&gt;&#10;    &lt;Box style={{ width: 8, height: 48, background: 'linear-gradient(180deg, #3B82F6 0%, #22D3EE 100%)', borderRadius: 4 }} /&gt;&#10;    &lt;Box&gt;&#10;      &lt;Text style={{ fontSize: 36, fontWeight: 'bold', color: '#F1F5F9' }}&gt;三个闭环咬合：数据飞轮如何自转&lt;/Text&gt;&#10;      &lt;Text style={{ fontSize: 16, color: '#94A3B8', marginTop: 6 }}&gt;工作、治理、记忆三个闭环互相喂养，形成自驱动的飞轮系统&lt;/Text&gt;&#10;    &lt;/Box&gt;&#10;  &lt;/Box&gt;&#10;  {/* B 内容区：左咬合图 + 右解释 */}&#10;  &lt;Box style={{ height: 520, flexDirection: 'row', gap: 32 }}&gt;&#10;    {/* 左：三闭环咬合图 */}&#10;    &lt;Box style={{ width: '58%', background: '#1E293B', borderRadius: 16, border: '1px solid rgba(148,163,184,0.25)', padding: 28, flexDirection: 'column', justifyContent: 'space-between' }}&gt;&#10;      {/* 工作闭环（上） */}&#10;      &lt;Box style={{ alignItems: 'center', flexDirection: 'column', gap: 10 }}&gt;&#10;        &lt;Box style={{ width: '72%', background: 'linear-gradient(135deg, #3B82F6 0%, #22D3EE 100%)', borderRadius: 14, padding: '16px 24px', alignItems: 'center', flexDirection: 'column', gap: 4 }}&gt;&#10;          &lt;Text style={{ fontSize: 20, fontWeight: 'bold', color: '#0F172A' }}&gt;工作闭环&lt;/Text&gt;&#10;          &lt;Text style={{ fontSize: 13.5, color: '#0F172A' }}&gt;触发 → 执行 → 产出 → 交付 → 沉淀&lt;/Text&gt;&#10;        &lt;/Box&gt;&#10;      &lt;/Box&gt;&#10;      {/* 中部咬合箭头 */}&#10;      &lt;Box style={{ flexDirection: 'row', justifyContent: 'space-between', paddingLeft: 40, paddingRight: 40, alignItems: 'center' }}&gt;&#10;        &lt;Box style={{ flexDirection: 'column', alignItems: 'center', gap: 2 }}&gt;&#10;          &lt;FAIcon name=&quot;arrow-down&quot; style={{ fill: '#F59E0B', width: 20, height: 20 }} /&gt;&#10;          &lt;Text style={{ fontSize: 12.5, color: '#F59E0B' }}&gt;产出喂养&lt;/Text&gt;&#10;        &lt;/Box&gt;&#10;        &lt;Box style={{ flexDirection: 'column', alignItems: 'center', gap: 2 }}&gt;&#10;          &lt;FAIcon name=&quot;arrow-up&quot; style={{ fill: '#22D3EE', width: 20, height: 20 }} /&gt;&#10;          &lt;Text style={{ fontSize: 12.5, color: '#22D3EE' }}&gt;经验反哺&lt;/Text&gt;&#10;        &lt;/Box&gt;&#10;      &lt;/Box&gt;&#10;      {/* 治理 + 记忆（下） */}&#10;      &lt;Box style={{ flexDirection: 'row', gap: 16 }}&gt;&#10;        &lt;Box style={{ flex: 1, background: 'rgba(245,158,11,0.14)', borderRadius: 14, padding: '16px 20px', border: '1px solid rgba(245,158,11,0.5)', flexDirection: 'column', gap: 4, alignItems: 'center' }}&gt;&#10;          &lt;Text style={{ fontSize: 19, fontWeight: 'bold', color: '#F59E0B' }}&gt;治理闭环&lt;/Text&gt;&#10;          &lt;Text style={{ fontSize: 13, color: '#94A3B8', textAlign: 'center', lineHeight: 1.5 }}&gt;资产登记 → spec 学习&lt;br /&gt;→ 人确认 → 可信目录&lt;/Text&gt;&#10;        &lt;/Box&gt;&#10;        &lt;Box style={{ flex: 1, background: 'rgba(34,211,238,0.12)', borderRadius: 14, padding: '16px 20px', border: '1px solid rgba(34,211,238,0.5)', flexDirection: 'column', gap: 4, alignItems: 'center' }}&gt;&#10;          &lt;Text style={{ fontSize: 19, fontWeight: 'bold', color: '#22D3EE' }}&gt;记忆闭环&lt;/Text&gt;&#10;          &lt;Text style={{ fontSize: 13, color: '#94A3B8', textAlign: 'center', lineHeight: 1.5 }}&gt;每轮记录 → 反思整合&lt;br /&gt;→ 晋升 → 下次加速&lt;/Text&gt;&#10;        &lt;/Box&gt;&#10;      &lt;/Box&gt;&#10;      &lt;Box style={{ flexDirection: 'row', justifyContent: 'center', alignItems: 'center', gap: 8 }}&gt;&#10;        &lt;FAIcon name=&quot;shield&quot; style={{ fill: '#F59E0B', width: 16, height: 16 }} /&gt;&#10;        &lt;Text style={{ fontSize: 13.5, color: '#94A3B8' }}&gt;治理闭环横贯其中：保证另外两个闭环里的&lt;span style={{ color: '#F1F5F9' }}&gt;每一份数据都可信&lt;/span&gt;&lt;/Text&gt;&#10;      &lt;/Box&gt;&#10;    &lt;/Box&gt;&#10;    {/* 右：三条解释 */}&#10;    &lt;Box style={{ flex: 1, flexDirection: 'column', gap: 14 }}&gt;&#10;      &lt;Box style={{ flex: 1, background: 'rgba(59,130,246,0.10)', borderRadius: 14, padding: '16px 22px', border: '1px solid rgba(148,163,184,0.25)', flexDirection: 'column', justifyContent: 'center' }}&gt;&#10;        &lt;Text style={{ fontSize: 19, fontWeight: 'bold', color: '#F1F5F9' }}&gt;工作闭环 · 让场景持续运转&lt;/Text&gt;&#10;        &lt;Text style={{ fontSize: 14.5, color: '#94A3B8', lineHeight: 1.6, marginTop: 8 }}&gt;触发器不停、任务不断、产出不息——这是飞轮的主驱动，场景 7×24 在场。&lt;/Text&gt;&#10;      &lt;/Box&gt;&#10;      &lt;Box style={{ flex: 1, background: 'rgba(59,130,246,0.10)', borderRadius: 14, padding: '16px 22px', border: '1px solid rgba(148,163,184,0.25)', flexDirection: 'column', justifyContent: 'center' }}&gt;&#10;        &lt;Text style={{ fontSize: 19, fontWeight: 'bold', color: '#F1F5F9' }}&gt;治理闭环 · 让数据可信&lt;/Text&gt;&#10;        &lt;Text style={{ fontSize: 14.5, color: '#94A3B8', lineHeight: 1.6, marginTop: 8 }}&gt;数字只能来自已确认口径，治理落在工具面硬门禁——这是飞轮的可信底座。&lt;/Text&gt;&#10;      &lt;/Box&gt;&#10;      &lt;Box style={{ flex: 1, background: 'rgba(59,130,246,0.10)', borderRadius: 14, padding: '16px 22px', border: '1px solid rgba(148,163,184,0.25)', flexDirection: 'column', justifyContent: 'center' }}&gt;&#10;        &lt;Text style={{ fontSize: 19, fontWeight: 'bold', color: '#F1F5F9' }}&gt;记忆闭环 · 让 Agent 成长&lt;/Text&gt;&#10;        &lt;Text style={{ fontSize: 14.5, color: '#94A3B8', lineHeight: 1.6, marginTop: 8 }}&gt;工作闭环的产出喂养记忆，记忆晋升反哺执行——这是飞轮的进化引擎。&lt;/Text&gt;&#10;      &lt;/Box&gt;&#10;      &lt;Box style={{ background: 'linear-gradient(135deg, rgba(59,130,246,0.25) 0%, rgba(34,211,238,0.20) 100%)', borderRadius: 14, padding: '14px 22px', border: '1px solid rgba(59,130,246,0.5)' }}&gt;&#10;        &lt;Text style={{ fontSize: 15.5, color: '#F1F5F9', lineHeight: 1.6 }}&gt;三环咬合的结果：&lt;span style={{ fontWeight: 'bold', color: '#22D3EE' }}&gt;业务数据越跑，飞轮转得越快&lt;/span&gt;&lt;/Text&gt;&#10;      &lt;/Box&gt;&#10;    &lt;/Box&gt;&#10;  &lt;/Box&gt;&#10;  {/* C 页脚条 */}&#10;  &lt;Box style={{ height: 60, flexDirection: 'row', justifyContent: 'space-between', alignItems: 'center' }}&gt;&#10;    &lt;Text style={{ fontSize: 14, color: '#94A3B8' }}&gt;Gyra · 业务场景 Loop&lt;/Text&gt;&#10;    &lt;Text style={{ fontSize: 14, color: '#94A3B8' }}&gt;09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609600" y="438150"/>
            <a:ext cx="76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38200" y="333375"/>
            <a:ext cx="51435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三个闭环咬合：数据飞轮如何自转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38200" y="809625"/>
            <a:ext cx="5143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工作、治理、记忆三个闭环互相喂养，形成自驱动的飞轮系统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609600" y="1143000"/>
            <a:ext cx="6362700" cy="495300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1695450" y="1409700"/>
            <a:ext cx="4191000" cy="733425"/>
          </a:xfrm>
          <a:prstGeom prst="roundRect">
            <a:avLst>
              <a:gd name="adj" fmla="val 18182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3409950" y="156210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Noto Sans CJK SC"/>
                <a:ea typeface="Noto Sans CJK SC"/>
              </a:rPr>
              <a:t>工作闭环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2724150" y="182880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0F172A"/>
                </a:solidFill>
                <a:latin typeface="Noto Sans CJK SC"/>
                <a:ea typeface="Noto Sans CJK SC"/>
              </a:rPr>
              <a:t>触发</a:t>
            </a:r>
            <a:r>
              <a:rPr lang="en-US" sz="1013">
                <a:solidFill>
                  <a:srgbClr val="0F172A"/>
                </a:solidFill>
                <a:latin typeface="Noto Sans CJK SC"/>
                <a:ea typeface="Noto Sans CJK SC"/>
              </a:rPr>
              <a:t> → </a:t>
            </a:r>
            <a:r>
              <a:rPr lang="zh-CN" sz="1013">
                <a:solidFill>
                  <a:srgbClr val="0F172A"/>
                </a:solidFill>
                <a:latin typeface="Noto Sans CJK SC"/>
                <a:ea typeface="Noto Sans CJK SC"/>
              </a:rPr>
              <a:t>执行</a:t>
            </a:r>
            <a:r>
              <a:rPr lang="en-US" sz="1013">
                <a:solidFill>
                  <a:srgbClr val="0F172A"/>
                </a:solidFill>
                <a:latin typeface="Noto Sans CJK SC"/>
                <a:ea typeface="Noto Sans CJK SC"/>
              </a:rPr>
              <a:t> → </a:t>
            </a:r>
            <a:r>
              <a:rPr lang="zh-CN" sz="1013">
                <a:solidFill>
                  <a:srgbClr val="0F172A"/>
                </a:solidFill>
                <a:latin typeface="Noto Sans CJK SC"/>
                <a:ea typeface="Noto Sans CJK SC"/>
              </a:rPr>
              <a:t>产出</a:t>
            </a:r>
            <a:r>
              <a:rPr lang="en-US" sz="1013">
                <a:solidFill>
                  <a:srgbClr val="0F172A"/>
                </a:solidFill>
                <a:latin typeface="Noto Sans CJK SC"/>
                <a:ea typeface="Noto Sans CJK SC"/>
              </a:rPr>
              <a:t> → </a:t>
            </a:r>
            <a:r>
              <a:rPr lang="zh-CN" sz="1013">
                <a:solidFill>
                  <a:srgbClr val="0F172A"/>
                </a:solidFill>
                <a:latin typeface="Noto Sans CJK SC"/>
                <a:ea typeface="Noto Sans CJK SC"/>
              </a:rPr>
              <a:t>交付</a:t>
            </a:r>
            <a:r>
              <a:rPr lang="en-US" sz="1013">
                <a:solidFill>
                  <a:srgbClr val="0F172A"/>
                </a:solidFill>
                <a:latin typeface="Noto Sans CJK SC"/>
                <a:ea typeface="Noto Sans CJK SC"/>
              </a:rPr>
              <a:t> → </a:t>
            </a:r>
            <a:r>
              <a:rPr lang="zh-CN" sz="1013">
                <a:solidFill>
                  <a:srgbClr val="0F172A"/>
                </a:solidFill>
                <a:latin typeface="Noto Sans CJK SC"/>
                <a:ea typeface="Noto Sans CJK SC"/>
              </a:rPr>
              <a:t>沉淀</a:t>
            </a:r>
            <a:endParaRPr/>
          </a:p>
        </p:txBody>
      </p:sp>
      <p:pic>
        <p:nvPicPr>
          <p:cNvPr id="3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400175" y="2867025"/>
            <a:ext cx="190500" cy="190500"/>
          </a:xfrm>
          <a:prstGeom prst="rect">
            <a:avLst/>
          </a:prstGeom>
          <a:ln/>
        </p:spPr>
      </p:pic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257300" y="307657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F59E0B"/>
                </a:solidFill>
                <a:latin typeface="Noto Sans CJK SC"/>
                <a:ea typeface="Noto Sans CJK SC"/>
              </a:rPr>
              <a:t>产出喂养</a:t>
            </a:r>
            <a:endParaRPr/>
          </a:p>
        </p:txBody>
      </p:sp>
      <p:pic>
        <p:nvPicPr>
          <p:cNvPr id="3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91225" y="2867025"/>
            <a:ext cx="190500" cy="190500"/>
          </a:xfrm>
          <a:prstGeom prst="rect">
            <a:avLst/>
          </a:prstGeom>
          <a:ln/>
        </p:spPr>
      </p:pic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848350" y="3076575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2D3EE"/>
                </a:solidFill>
                <a:latin typeface="Noto Sans CJK SC"/>
                <a:ea typeface="Noto Sans CJK SC"/>
              </a:rPr>
              <a:t>经验反哺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876300" y="3933825"/>
            <a:ext cx="2838450" cy="1009650"/>
          </a:xfrm>
          <a:prstGeom prst="roundRect">
            <a:avLst>
              <a:gd name="adj" fmla="val 13208"/>
            </a:avLst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1933575" y="40862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59E0B"/>
                </a:solidFill>
                <a:latin typeface="Noto Sans CJK SC"/>
                <a:ea typeface="Noto Sans CJK SC"/>
              </a:rPr>
              <a:t>治理闭环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666875" y="4343400"/>
            <a:ext cx="1266825" cy="4476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75">
                <a:solidFill>
                  <a:srgbClr val="94A3B8"/>
                </a:solidFill>
                <a:latin typeface="Noto Sans CJK SC"/>
                <a:ea typeface="Noto Sans CJK SC"/>
              </a:rPr>
              <a:t>资产登记</a:t>
            </a:r>
            <a:r>
              <a:rPr lang="en-US" sz="975">
                <a:solidFill>
                  <a:srgbClr val="94A3B8"/>
                </a:solidFill>
                <a:latin typeface="Noto Sans CJK SC"/>
                <a:ea typeface="Noto Sans CJK SC"/>
              </a:rPr>
              <a:t> → spec </a:t>
            </a:r>
            <a:r>
              <a:rPr lang="zh-CN" sz="975">
                <a:solidFill>
                  <a:srgbClr val="94A3B8"/>
                </a:solidFill>
                <a:latin typeface="Noto Sans CJK SC"/>
                <a:ea typeface="Noto Sans CJK SC"/>
              </a:rPr>
              <a:t>学习</a:t>
            </a:r>
            <a:endParaRPr/>
          </a:p>
          <a:p>
            <a:pPr algn="ctr"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Noto Sans CJK SC"/>
                <a:ea typeface="Noto Sans CJK SC"/>
              </a:rPr>
              <a:t>→ </a:t>
            </a:r>
            <a:r>
              <a:rPr lang="zh-CN" sz="975">
                <a:solidFill>
                  <a:srgbClr val="94A3B8"/>
                </a:solidFill>
                <a:latin typeface="Noto Sans CJK SC"/>
                <a:ea typeface="Noto Sans CJK SC"/>
              </a:rPr>
              <a:t>人确认</a:t>
            </a:r>
            <a:r>
              <a:rPr lang="en-US" sz="975">
                <a:solidFill>
                  <a:srgbClr val="94A3B8"/>
                </a:solidFill>
                <a:latin typeface="Noto Sans CJK SC"/>
                <a:ea typeface="Noto Sans CJK SC"/>
              </a:rPr>
              <a:t> → </a:t>
            </a:r>
            <a:r>
              <a:rPr lang="zh-CN" sz="975">
                <a:solidFill>
                  <a:srgbClr val="94A3B8"/>
                </a:solidFill>
                <a:latin typeface="Noto Sans CJK SC"/>
                <a:ea typeface="Noto Sans CJK SC"/>
              </a:rPr>
              <a:t>可信目录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3867150" y="3933825"/>
            <a:ext cx="2838450" cy="1009650"/>
          </a:xfrm>
          <a:prstGeom prst="roundRect">
            <a:avLst>
              <a:gd name="adj" fmla="val 13208"/>
            </a:avLst>
          </a:prstGeom>
          <a:solidFill>
            <a:srgbClr val="22D3EE">
              <a:alpha val="12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924425" y="40862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2D3EE"/>
                </a:solidFill>
                <a:latin typeface="Noto Sans CJK SC"/>
                <a:ea typeface="Noto Sans CJK SC"/>
              </a:rPr>
              <a:t>记忆闭环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4686300" y="4343400"/>
            <a:ext cx="1200150" cy="4476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975">
                <a:solidFill>
                  <a:srgbClr val="94A3B8"/>
                </a:solidFill>
                <a:latin typeface="Noto Sans CJK SC"/>
                <a:ea typeface="Noto Sans CJK SC"/>
              </a:rPr>
              <a:t>每轮记录</a:t>
            </a:r>
            <a:r>
              <a:rPr lang="en-US" sz="975">
                <a:solidFill>
                  <a:srgbClr val="94A3B8"/>
                </a:solidFill>
                <a:latin typeface="Noto Sans CJK SC"/>
                <a:ea typeface="Noto Sans CJK SC"/>
              </a:rPr>
              <a:t> → </a:t>
            </a:r>
            <a:r>
              <a:rPr lang="zh-CN" sz="975">
                <a:solidFill>
                  <a:srgbClr val="94A3B8"/>
                </a:solidFill>
                <a:latin typeface="Noto Sans CJK SC"/>
                <a:ea typeface="Noto Sans CJK SC"/>
              </a:rPr>
              <a:t>反思整合</a:t>
            </a:r>
            <a:endParaRPr/>
          </a:p>
          <a:p>
            <a:pPr algn="ctr">
              <a:lnSpc>
                <a:spcPct val="150000"/>
              </a:lnSpc>
            </a:pPr>
            <a:r>
              <a:rPr lang="en-US" sz="975">
                <a:solidFill>
                  <a:srgbClr val="94A3B8"/>
                </a:solidFill>
                <a:latin typeface="Noto Sans CJK SC"/>
                <a:ea typeface="Noto Sans CJK SC"/>
              </a:rPr>
              <a:t>→ </a:t>
            </a:r>
            <a:r>
              <a:rPr lang="zh-CN" sz="975">
                <a:solidFill>
                  <a:srgbClr val="94A3B8"/>
                </a:solidFill>
                <a:latin typeface="Noto Sans CJK SC"/>
                <a:ea typeface="Noto Sans CJK SC"/>
              </a:rPr>
              <a:t>晋升</a:t>
            </a:r>
            <a:r>
              <a:rPr lang="en-US" sz="975">
                <a:solidFill>
                  <a:srgbClr val="94A3B8"/>
                </a:solidFill>
                <a:latin typeface="Noto Sans CJK SC"/>
                <a:ea typeface="Noto Sans CJK SC"/>
              </a:rPr>
              <a:t> → </a:t>
            </a:r>
            <a:r>
              <a:rPr lang="zh-CN" sz="975">
                <a:solidFill>
                  <a:srgbClr val="94A3B8"/>
                </a:solidFill>
                <a:latin typeface="Noto Sans CJK SC"/>
                <a:ea typeface="Noto Sans CJK SC"/>
              </a:rPr>
              <a:t>下次加速</a:t>
            </a:r>
            <a:endParaRPr/>
          </a:p>
        </p:txBody>
      </p:sp>
      <p:pic>
        <p:nvPicPr>
          <p:cNvPr id="3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943100" y="5676900"/>
            <a:ext cx="152400" cy="152400"/>
          </a:xfrm>
          <a:prstGeom prst="rect">
            <a:avLst/>
          </a:prstGeom>
          <a:ln/>
        </p:spPr>
      </p:pic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2171700" y="5667375"/>
            <a:ext cx="3476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94A3B8"/>
                </a:solidFill>
                <a:latin typeface="Noto Sans CJK SC"/>
                <a:ea typeface="Noto Sans CJK SC"/>
              </a:rPr>
              <a:t>治理闭环横贯其中：保证另外两个闭环里的</a:t>
            </a:r>
            <a:r>
              <a:rPr lang="zh-CN" sz="1013">
                <a:solidFill>
                  <a:srgbClr val="F1F5F9"/>
                </a:solidFill>
                <a:latin typeface="Noto Sans CJK SC"/>
                <a:ea typeface="Noto Sans CJK SC"/>
              </a:rPr>
              <a:t>每一份数据都可信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7277100" y="1143000"/>
            <a:ext cx="4305300" cy="1333500"/>
          </a:xfrm>
          <a:prstGeom prst="roundRect">
            <a:avLst>
              <a:gd name="adj" fmla="val 100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7486650" y="1400175"/>
            <a:ext cx="3886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工作闭环</a:t>
            </a: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 ·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让场景持续运转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7486650" y="1695450"/>
            <a:ext cx="38862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94A3B8"/>
                </a:solidFill>
                <a:latin typeface="Noto Sans CJK SC"/>
                <a:ea typeface="Noto Sans CJK SC"/>
              </a:rPr>
              <a:t>触发器不停、任务不断、产出不息——这是飞轮的主驱动，场景</a:t>
            </a:r>
            <a:r>
              <a:rPr lang="en-US" sz="1088">
                <a:solidFill>
                  <a:srgbClr val="94A3B8"/>
                </a:solidFill>
                <a:latin typeface="Noto Sans CJK SC"/>
                <a:ea typeface="Noto Sans CJK SC"/>
              </a:rPr>
              <a:t> 7×24 </a:t>
            </a:r>
            <a:r>
              <a:rPr lang="zh-CN" sz="1088">
                <a:solidFill>
                  <a:srgbClr val="94A3B8"/>
                </a:solidFill>
                <a:latin typeface="Noto Sans CJK SC"/>
                <a:ea typeface="Noto Sans CJK SC"/>
              </a:rPr>
              <a:t>在场。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7277100" y="2609850"/>
            <a:ext cx="4305300" cy="1333500"/>
          </a:xfrm>
          <a:prstGeom prst="roundRect">
            <a:avLst>
              <a:gd name="adj" fmla="val 100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486650" y="2867025"/>
            <a:ext cx="3886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治理闭环</a:t>
            </a: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 ·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让数据可信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486650" y="3162300"/>
            <a:ext cx="38862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94A3B8"/>
                </a:solidFill>
                <a:latin typeface="Noto Sans CJK SC"/>
                <a:ea typeface="Noto Sans CJK SC"/>
              </a:rPr>
              <a:t>数字只能来自已确认口径，治理落在工具面硬门禁——这是飞轮的可信底座。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7277100" y="4076700"/>
            <a:ext cx="4305300" cy="1333500"/>
          </a:xfrm>
          <a:prstGeom prst="roundRect">
            <a:avLst>
              <a:gd name="adj" fmla="val 100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7486650" y="4333875"/>
            <a:ext cx="3886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记忆闭环</a:t>
            </a: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 ·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让</a:t>
            </a:r>
            <a:r>
              <a:rPr lang="en-US" sz="1425" b="1">
                <a:solidFill>
                  <a:srgbClr val="F1F5F9"/>
                </a:solidFill>
                <a:latin typeface="Noto Sans CJK SC"/>
                <a:ea typeface="Noto Sans CJK SC"/>
              </a:rPr>
              <a:t> Agent </a:t>
            </a:r>
            <a:r>
              <a:rPr lang="zh-CN" sz="1425" b="1">
                <a:solidFill>
                  <a:srgbClr val="F1F5F9"/>
                </a:solidFill>
                <a:latin typeface="Noto Sans CJK SC"/>
                <a:ea typeface="Noto Sans CJK SC"/>
              </a:rPr>
              <a:t>成长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7486650" y="4629150"/>
            <a:ext cx="38862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94A3B8"/>
                </a:solidFill>
                <a:latin typeface="Noto Sans CJK SC"/>
                <a:ea typeface="Noto Sans CJK SC"/>
              </a:rPr>
              <a:t>工作闭环的产出喂养记忆，记忆晋升反哺执行——这是飞轮的进化引擎。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7277100" y="5543550"/>
            <a:ext cx="4305300" cy="552450"/>
          </a:xfrm>
          <a:prstGeom prst="roundRect">
            <a:avLst>
              <a:gd name="adj" fmla="val 24138"/>
            </a:avLst>
          </a:prstGeom>
          <a:gradFill>
            <a:gsLst>
              <a:gs pos="0">
                <a:srgbClr val="3B82F6">
                  <a:alpha val="25000"/>
                </a:srgbClr>
              </a:gs>
              <a:gs pos="100000">
                <a:srgbClr val="22D3EE">
                  <a:alpha val="20000"/>
                </a:srgbClr>
              </a:gs>
            </a:gsLst>
            <a:lin ang="2700000" scaled="1"/>
          </a:gradFill>
          <a:ln w="12700">
            <a:solidFill>
              <a:srgbClr val="3B82F6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7486650" y="5676900"/>
            <a:ext cx="388620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63">
                <a:solidFill>
                  <a:srgbClr val="F1F5F9"/>
                </a:solidFill>
                <a:latin typeface="Noto Sans CJK SC"/>
                <a:ea typeface="Noto Sans CJK SC"/>
              </a:rPr>
              <a:t>三环咬合的结果：</a:t>
            </a:r>
            <a:r>
              <a:rPr lang="zh-CN" sz="1163" b="1">
                <a:solidFill>
                  <a:srgbClr val="22D3EE"/>
                </a:solidFill>
                <a:latin typeface="Noto Sans CJK SC"/>
                <a:ea typeface="Noto Sans CJK SC"/>
              </a:rPr>
              <a:t>业务数据越跑，飞轮转得越快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34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Gyra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业务场景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Loop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11252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09 / 12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0" name="" descr="&lt;Slide style={{ width: '1280px', height: '720px', background: '#0F172A', padding: '20px 64px', fontFamily: 'Noto Sans CJK SC, PingFang SC, Helvetica Neue, sans-serif' }}&gt;&#10;  {/* A 标题块 */}&#10;  &lt;Box style={{ height: 100, flexDirection: 'row', alignItems: 'center', gap: 16 }}&gt;&#10;    &lt;Box style={{ width: 8, height: 48, background: 'linear-gradient(180deg, #3B82F6 0%, #22D3EE 100%)', borderRadius: 4 }} /&gt;&#10;    &lt;Box&gt;&#10;      &lt;Text style={{ fontSize: 36, fontWeight: 'bold', color: '#F1F5F9' }}&gt;北极星指标：沉淀厚度&lt;/Text&gt;&#10;      &lt;Text style={{ fontSize: 16, color: '#94A3B8', marginTop: 6 }}&gt;怎么衡量飞轮真的转起来了？五个可度量的指标&lt;/Text&gt;&#10;    &lt;/Box&gt;&#10;  &lt;/Box&gt;&#10;  {/* B 内容区：左标题 + 右内容 */}&#10;  &lt;Box style={{ height: 520, flexDirection: 'row', gap: 32 }}&gt;&#10;    {/* 左侧定义栏 */}&#10;    &lt;Box style={{ width: '34%', background: '#1E293B', borderRadius: 16, padding: 36, border: '1px solid rgba(245,158,11,0.35)', flexDirection: 'column', justifyContent: 'space-between' }}&gt;&#10;      &lt;Box&gt;&#10;        &lt;FAIcon name=&quot;star&quot; style={{ fill: '#F59E0B', width: 44, height: 44 }} /&gt;&#10;        &lt;Text style={{ fontSize: 30, fontWeight: 'bold', color: '#F59E0B', marginTop: 18 }}&gt;沉淀厚度&lt;/Text&gt;&#10;        &lt;Text style={{ fontSize: 18, color: '#F1F5F9', lineHeight: 1.7, marginTop: 16 }}&gt;一个新成员（人或 Agent）进入空间，&lt;span style={{ color: '#22D3EE' }}&gt;多快能达到&quot;老师傅&quot;的工作水平&lt;/span&gt;。&lt;/Text&gt;&#10;      &lt;/Box&gt;&#10;      &lt;Text style={{ marginTop: 'auto', fontSize: 15, color: '#94A3B8', lineHeight: 1.7, paddingTop: 20, borderTop: '1px solid rgba(148,163,184,0.25)' }}&gt;沉淀越厚，上手越快；&lt;br /&gt;上手越快，沉淀又越多。&lt;/Text&gt;&#10;    &lt;/Box&gt;&#10;    {/* 右侧五指标纵向列表 */}&#10;    &lt;Box style={{ flex: 1, flexDirection: 'column', gap: 12 }}&gt;&#10;      &lt;Box style={{ flex: 1, background: 'rgba(59,130,246,0.10)', borderRadius: 12, padding: '12px 22px', border: '1px solid rgba(148,163,184,0.25)', flexDirection: 'row', alignItems: 'center', gap: 18 }}&gt;&#10;        &lt;Text style={{ fontSize: 26, fontWeight: 'bold', color: '#3B82F6', width: 40 }}&gt;01&lt;/Text&gt;&#10;        &lt;Box style={{ flex: 1 }}&gt;&#10;          &lt;Text style={{ fontSize: 18, fontWeight: 'bold', color: '#F1F5F9' }}&gt;资产就绪率&lt;/Text&gt;&#10;          &lt;Text style={{ fontSize: 14, color: '#94A3B8', marginTop: 2 }}&gt;完成学习与口径确认的资产占比——资产是不是&quot;能用&quot;状态&lt;/Text&gt;&#10;        &lt;/Box&gt;&#10;      &lt;/Box&gt;&#10;      &lt;Box style={{ flex: 1, background: 'rgba(59,130,246,0.10)', borderRadius: 12, padding: '12px 22px', border: '1px solid rgba(148,163,184,0.25)', flexDirection: 'row', alignItems: 'center', gap: 18 }}&gt;&#10;        &lt;Text style={{ fontSize: 26, fontWeight: 'bold', color: '#3B82F6', width: 40 }}&gt;02&lt;/Text&gt;&#10;        &lt;Box style={{ flex: 1 }}&gt;&#10;          &lt;Text style={{ fontSize: 18, fontWeight: 'bold', color: '#F1F5F9' }}&gt;语义覆盖率&lt;/Text&gt;&#10;          &lt;Text style={{ fontSize: 14, color: '#94A3B8', marginTop: 2 }}&gt;查询走&quot;已确认口径&quot;与&quot;直连数据库&quot;之比——数字有多少是可信的&lt;/Text&gt;&#10;        &lt;/Box&gt;&#10;      &lt;/Box&gt;&#10;      &lt;Box style={{ flex: 1, background: 'rgba(59,130,246,0.10)', borderRadius: 12, padding: '12px 22px', border: '1px solid rgba(148,163,184,0.25)', flexDirection: 'row', alignItems: 'center', gap: 18 }}&gt;&#10;        &lt;Text style={{ fontSize: 26, fontWeight: 'bold', color: '#22D3EE', width: 40 }}&gt;03&lt;/Text&gt;&#10;        &lt;Box style={{ flex: 1 }}&gt;&#10;          &lt;Text style={{ fontSize: 18, fontWeight: 'bold', color: '#F1F5F9' }}&gt;剧本复用率&lt;/Text&gt;&#10;          &lt;Text style={{ fontSize: 14, color: '#94A3B8', marginTop: 2 }}&gt;自动触发的任务占比（而非一次性手动发起）——循环有没有自转&lt;/Text&gt;&#10;        &lt;/Box&gt;&#10;      &lt;/Box&gt;&#10;      &lt;Box style={{ flex: 1, background: 'rgba(59,130,246,0.10)', borderRadius: 12, padding: '12px 22px', border: '1px solid rgba(148,163,184,0.25)', flexDirection: 'row', alignItems: 'center', gap: 18 }}&gt;&#10;        &lt;Text style={{ fontSize: 26, fontWeight: 'bold', color: '#22D3EE', width: 40 }}&gt;04&lt;/Text&gt;&#10;        &lt;Box style={{ flex: 1 }}&gt;&#10;          &lt;Text style={{ fontSize: 18, fontWeight: 'bold', color: '#F1F5F9' }}&gt;待办响应时长&lt;/Text&gt;&#10;          &lt;Text style={{ fontSize: 14, color: '#94A3B8', marginTop: 2 }}&gt;人的阀门是否成为瓶颈——自动化卡在哪里一目了然&lt;/Text&gt;&#10;        &lt;/Box&gt;&#10;      &lt;/Box&gt;&#10;      &lt;Box style={{ flex: 1, background: 'rgba(59,130,246,0.10)', borderRadius: 12, padding: '12px 22px', border: '1px solid rgba(148,163,184,0.25)', flexDirection: 'row', alignItems: 'center', gap: 18 }}&gt;&#10;        &lt;Text style={{ fontSize: 26, fontWeight: 'bold', color: '#F59E0B', width: 40 }}&gt;05&lt;/Text&gt;&#10;        &lt;Box style={{ flex: 1 }}&gt;&#10;          &lt;Text style={{ fontSize: 18, fontWeight: 'bold', color: '#F1F5F9' }}&gt;沉淀增速&lt;/Text&gt;&#10;          &lt;Text style={{ fontSize: 14, color: '#94A3B8', marginTop: 2 }}&gt;资产条目数随时间的增长曲线——空间变厚的速度&lt;/Text&gt;&#10;        &lt;/Box&gt;&#10;      &lt;/Box&gt;&#10;    &lt;/Box&gt;&#10;  &lt;/Box&gt;&#10;  {/* C 页脚条 */}&#10;  &lt;Box style={{ height: 60, flexDirection: 'row', justifyContent: 'space-between', alignItems: 'center' }}&gt;&#10;    &lt;Text style={{ fontSize: 14, color: '#94A3B8' }}&gt;Gyra · 业务场景 Loop&lt;/Text&gt;&#10;    &lt;Text style={{ fontSize: 14, color: '#94A3B8' }}&gt;10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609600" y="438150"/>
            <a:ext cx="76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38200" y="333375"/>
            <a:ext cx="34290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北极星指标：沉淀厚度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38200" y="8096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怎么衡量飞轮真的转起来了？五个可度量的指标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09600" y="1143000"/>
            <a:ext cx="3733800" cy="4953000"/>
          </a:xfrm>
          <a:prstGeom prst="roundRect">
            <a:avLst>
              <a:gd name="adj" fmla="val 4082"/>
            </a:avLst>
          </a:prstGeom>
          <a:solidFill>
            <a:srgbClr val="1E293B"/>
          </a:solidFill>
          <a:ln w="12700">
            <a:solidFill>
              <a:srgbClr val="F59E0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1485900"/>
            <a:ext cx="419100" cy="419100"/>
          </a:xfrm>
          <a:prstGeom prst="rect">
            <a:avLst/>
          </a:prstGeom>
          <a:ln/>
        </p:spPr>
      </p:pic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952500" y="2076450"/>
            <a:ext cx="3048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59E0B"/>
                </a:solidFill>
                <a:latin typeface="Noto Sans CJK SC"/>
                <a:ea typeface="Noto Sans CJK SC"/>
              </a:rPr>
              <a:t>沉淀厚度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952500" y="2571750"/>
            <a:ext cx="3048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F1F5F9"/>
                </a:solidFill>
                <a:latin typeface="Noto Sans CJK SC"/>
                <a:ea typeface="Noto Sans CJK SC"/>
              </a:rPr>
              <a:t>一个新成员（人或</a:t>
            </a:r>
            <a:r>
              <a:rPr lang="en-US" sz="1350">
                <a:solidFill>
                  <a:srgbClr val="F1F5F9"/>
                </a:solidFill>
                <a:latin typeface="Noto Sans CJK SC"/>
                <a:ea typeface="Noto Sans CJK SC"/>
              </a:rPr>
              <a:t> Agent</a:t>
            </a:r>
            <a:r>
              <a:rPr lang="zh-CN" sz="1350">
                <a:solidFill>
                  <a:srgbClr val="F1F5F9"/>
                </a:solidFill>
                <a:latin typeface="Noto Sans CJK SC"/>
                <a:ea typeface="Noto Sans CJK SC"/>
              </a:rPr>
              <a:t>）进入空间，</a:t>
            </a:r>
            <a:r>
              <a:rPr lang="zh-CN" sz="1350">
                <a:solidFill>
                  <a:srgbClr val="22D3EE"/>
                </a:solidFill>
                <a:latin typeface="Noto Sans CJK SC"/>
                <a:ea typeface="Noto Sans CJK SC"/>
              </a:rPr>
              <a:t>多快能达到</a:t>
            </a:r>
            <a:r>
              <a:rPr lang="en-US" sz="1350">
                <a:solidFill>
                  <a:srgbClr val="22D3EE"/>
                </a:solidFill>
                <a:latin typeface="Noto Sans CJK SC"/>
                <a:ea typeface="Noto Sans CJK SC"/>
              </a:rPr>
              <a:t>"</a:t>
            </a:r>
            <a:r>
              <a:rPr lang="zh-CN" sz="1350">
                <a:solidFill>
                  <a:srgbClr val="22D3EE"/>
                </a:solidFill>
                <a:latin typeface="Noto Sans CJK SC"/>
                <a:ea typeface="Noto Sans CJK SC"/>
              </a:rPr>
              <a:t>老师傅</a:t>
            </a:r>
            <a:r>
              <a:rPr lang="en-US" sz="1350">
                <a:solidFill>
                  <a:srgbClr val="22D3EE"/>
                </a:solidFill>
                <a:latin typeface="Noto Sans CJK SC"/>
                <a:ea typeface="Noto Sans CJK SC"/>
              </a:rPr>
              <a:t>"</a:t>
            </a:r>
            <a:r>
              <a:rPr lang="zh-CN" sz="1350">
                <a:solidFill>
                  <a:srgbClr val="22D3EE"/>
                </a:solidFill>
                <a:latin typeface="Noto Sans CJK SC"/>
                <a:ea typeface="Noto Sans CJK SC"/>
              </a:rPr>
              <a:t>的工作水平</a:t>
            </a:r>
            <a:r>
              <a:rPr lang="zh-CN" sz="1350">
                <a:solidFill>
                  <a:srgbClr val="F1F5F9"/>
                </a:solidFill>
                <a:latin typeface="Noto Sans CJK SC"/>
                <a:ea typeface="Noto Sans CJK SC"/>
              </a:rPr>
              <a:t>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52500" y="4972050"/>
            <a:ext cx="3048000" cy="781050"/>
          </a:xfrm>
          <a:prstGeom prst="rect"/>
        </p:spPr>
        <p:txBody>
          <a:bodyPr wrap="none" lIns="0" tIns="142875" rIns="0" bIns="0"/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沉淀越厚，上手越快；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94A3B8"/>
                </a:solidFill>
                <a:latin typeface="Noto Sans CJK SC"/>
                <a:ea typeface="Noto Sans CJK SC"/>
              </a:rPr>
              <a:t>上手越快，沉淀又越多。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4648200" y="1143000"/>
            <a:ext cx="6934200" cy="895350"/>
          </a:xfrm>
          <a:prstGeom prst="roundRect">
            <a:avLst>
              <a:gd name="adj" fmla="val 12766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857750" y="1438275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B82F6"/>
                </a:solidFill>
                <a:latin typeface="Noto Sans CJK SC"/>
                <a:ea typeface="Noto Sans CJK SC"/>
              </a:rPr>
              <a:t>01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410200" y="1400175"/>
            <a:ext cx="5962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Noto Sans CJK SC"/>
                <a:ea typeface="Noto Sans CJK SC"/>
              </a:rPr>
              <a:t>资产就绪率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410200" y="1628775"/>
            <a:ext cx="596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完成学习与口径确认的资产占比——资产是不是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能用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状态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4648200" y="2152650"/>
            <a:ext cx="6934200" cy="904875"/>
          </a:xfrm>
          <a:prstGeom prst="roundRect">
            <a:avLst>
              <a:gd name="adj" fmla="val 1263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857750" y="2457450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B82F6"/>
                </a:solidFill>
                <a:latin typeface="Noto Sans CJK SC"/>
                <a:ea typeface="Noto Sans CJK SC"/>
              </a:rPr>
              <a:t>02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410200" y="2409825"/>
            <a:ext cx="5962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Noto Sans CJK SC"/>
                <a:ea typeface="Noto Sans CJK SC"/>
              </a:rPr>
              <a:t>语义覆盖率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410200" y="2638425"/>
            <a:ext cx="596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查询走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已确认口径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与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直连数据库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之比——数字有多少是可信的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648200" y="3171825"/>
            <a:ext cx="6934200" cy="895350"/>
          </a:xfrm>
          <a:prstGeom prst="roundRect">
            <a:avLst>
              <a:gd name="adj" fmla="val 12766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857750" y="3467100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Noto Sans CJK SC"/>
                <a:ea typeface="Noto Sans CJK SC"/>
              </a:rPr>
              <a:t>03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410200" y="3429000"/>
            <a:ext cx="5962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Noto Sans CJK SC"/>
                <a:ea typeface="Noto Sans CJK SC"/>
              </a:rPr>
              <a:t>剧本复用率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410200" y="3657600"/>
            <a:ext cx="596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自动触发的任务占比（而非一次性手动发起）——循环有没有自转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648200" y="4181475"/>
            <a:ext cx="6934200" cy="904875"/>
          </a:xfrm>
          <a:prstGeom prst="roundRect">
            <a:avLst>
              <a:gd name="adj" fmla="val 1263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857750" y="4486275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22D3EE"/>
                </a:solidFill>
                <a:latin typeface="Noto Sans CJK SC"/>
                <a:ea typeface="Noto Sans CJK SC"/>
              </a:rPr>
              <a:t>04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410200" y="4438650"/>
            <a:ext cx="5962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Noto Sans CJK SC"/>
                <a:ea typeface="Noto Sans CJK SC"/>
              </a:rPr>
              <a:t>待办响应时长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410200" y="4667250"/>
            <a:ext cx="596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人的阀门是否成为瓶颈——自动化卡在哪里一目了然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648200" y="5200650"/>
            <a:ext cx="6934200" cy="895350"/>
          </a:xfrm>
          <a:prstGeom prst="roundRect">
            <a:avLst>
              <a:gd name="adj" fmla="val 12766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857750" y="5495925"/>
            <a:ext cx="381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59E0B"/>
                </a:solidFill>
                <a:latin typeface="Noto Sans CJK SC"/>
                <a:ea typeface="Noto Sans CJK SC"/>
              </a:rPr>
              <a:t>05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410200" y="5457825"/>
            <a:ext cx="5962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1F5F9"/>
                </a:solidFill>
                <a:latin typeface="Noto Sans CJK SC"/>
                <a:ea typeface="Noto Sans CJK SC"/>
              </a:rPr>
              <a:t>沉淀增速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5410200" y="5686425"/>
            <a:ext cx="5962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资产条目数随时间的增长曲线——空间变厚的速度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34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Gyra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业务场景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Loop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153775" y="63055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2" name="" descr="&lt;Slide style={{ width: '1280px', height: '720px', background: '#0F172A', padding: '20px 64px', fontFamily: 'Noto Sans CJK SC, PingFang SC, Helvetica Neue, sans-serif' }}&gt;&#10;  {/* A 标题块 */}&#10;  &lt;Box style={{ height: 100, flexDirection: 'row', alignItems: 'center', gap: 16 }}&gt;&#10;    &lt;Box style={{ width: 8, height: 48, background: 'linear-gradient(180deg, #3B82F6 0%, #22D3EE 100%)', borderRadius: 4 }} /&gt;&#10;    &lt;Box&gt;&#10;      &lt;Text style={{ fontSize: 36, fontWeight: 'bold', color: '#F1F5F9' }}&gt;对客户意味着什么&lt;/Text&gt;&#10;      &lt;Text style={{ fontSize: 16, color: '#94A3B8', marginTop: 6 }}&gt;一个 7×24 在场、越用越懂你们团队的 AI 队友&lt;/Text&gt;&#10;    &lt;/Box&gt;&#10;  &lt;/Box&gt;&#10;  {/* B 内容区：巨型数字 + 三行洞察 */}&#10;  &lt;Box style={{ height: 520, flexDirection: 'column', gap: 20 }}&gt;&#10;    {/* 巨型数字锚点行 */}&#10;    &lt;Box style={{ flexDirection: 'row', alignItems: 'center', gap: 40, paddingLeft: 12 }}&gt;&#10;      &lt;Text style={{ fontSize: 110, fontWeight: 'bold', lineHeight: 1.0, backgroundImage: 'linear-gradient(135deg, #3B82F6 0%, #22D3EE 100%)', backgroundClip: 'text', color: 'transparent' }}&gt;7×24&lt;/Text&gt;&#10;      &lt;Box style={{ flex: 1 }}&gt;&#10;        &lt;Text style={{ fontSize: 24, fontWeight: 'bold', color: '#F1F5F9', lineHeight: 1.4 }}&gt;场景空间始终在线&lt;/Text&gt;&#10;        &lt;Text style={{ fontSize: 17, color: '#94A3B8', lineHeight: 1.6, marginTop: 6 }}&gt;触发器持续监听，告警来了有人看、月报到了有人出——AI 不是&quot;被调用时才存在&quot;，而是始终在场。&lt;/Text&gt;&#10;      &lt;/Box&gt;&#10;    &lt;/Box&gt;&#10;    {/* 三行价值洞察 */}&#10;    &lt;Box style={{ flex: 1, flexDirection: 'column', gap: 14 }}&gt;&#10;      &lt;Box style={{ flex: 1, background: 'rgba(59,130,246,0.10)', borderRadius: 14, padding: '16px 28px', border: '1px solid rgba(148,163,184,0.25)', flexDirection: 'row', gap: 22, alignItems: 'center' }}&gt;&#10;        &lt;Box style={{ width: 56, height: 56, borderRadius: 14, background: 'rgba(59,130,246,0.18)', justifyContent: 'center', alignItems: 'center' }}&gt;&lt;FAIcon name=&quot;check-circle&quot; style={{ fill: '#3B82F6', width: 28, height: 28 }} /&gt;&lt;/Box&gt;&#10;        &lt;Box style={{ flex: 1 }}&gt;&#10;          &lt;Text style={{ fontSize: 21, fontWeight: 'bold', color: '#F1F5F9' }}&gt;数据敢用了&lt;/Text&gt;&#10;          &lt;Text style={{ fontSize: 15.5, color: '#94A3B8', lineHeight: 1.55, marginTop: 4 }}&gt;每个数字都有口径、有出处、有人确认过。汇报和决策，可以直接引用。&lt;/Text&gt;&#10;        &lt;/Box&gt;&#10;      &lt;/Box&gt;&#10;      &lt;Box style={{ flex: 1, background: 'rgba(59,130,246,0.10)', borderRadius: 14, padding: '16px 28px', border: '1px solid rgba(148,163,184,0.25)', flexDirection: 'row', gap: 22, alignItems: 'center' }}&gt;&#10;        &lt;Box style={{ width: 56, height: 56, borderRadius: 14, background: 'rgba(34,211,238,0.15)', justifyContent: 'center', alignItems: 'center' }}&gt;&lt;FAIcon name=&quot;users&quot; style={{ fill: '#22D3EE', width: 28, height: 28 }} /&gt;&lt;/Box&gt;&#10;        &lt;Box style={{ flex: 1 }}&gt;&#10;          &lt;Text style={{ fontSize: 21, fontWeight: 'bold', color: '#F1F5F9' }}&gt;活有人干了&lt;/Text&gt;&#10;          &lt;Text style={{ fontSize: 15.5, color: '#94A3B8', lineHeight: 1.55, marginTop: 4 }}&gt;巡检、对账、月报、应急响应自动跑，人只需要在关键阀门上做决策。&lt;/Text&gt;&#10;        &lt;/Box&gt;&#10;      &lt;/Box&gt;&#10;      &lt;Box style={{ flex: 1, background: 'rgba(59,130,246,0.10)', borderRadius: 14, padding: '16px 28px', border: '1px solid rgba(148,163,184,0.25)', flexDirection: 'row', gap: 22, alignItems: 'center' }}&gt;&#10;        &lt;Box style={{ width: 56, height: 56, borderRadius: 14, background: 'rgba(245,158,11,0.15)', justifyContent: 'center', alignItems: 'center' }}&gt;&lt;FAIcon name=&quot;chart-line&quot; style={{ fill: '#F59E0B', width: 28, height: 28 }} /&gt;&lt;/Box&gt;&#10;        &lt;Box style={{ flex: 1 }}&gt;&#10;          &lt;Text style={{ fontSize: 21, fontWeight: 'bold', color: '#F1F5F9' }}&gt;经验留得下了&lt;/Text&gt;&#10;          &lt;Text style={{ fontSize: 15.5, color: '#94A3B8', lineHeight: 1.55, marginTop: 4 }}&gt;每次执行都沉淀为团队资产。新人进场就是熟手水平，AI 也越用越懂你们。&lt;/Text&gt;&#10;        &lt;/Box&gt;&#10;      &lt;/Box&gt;&#10;    &lt;/Box&gt;&#10;  &lt;/Box&gt;&#10;  {/* C 页脚条 */}&#10;  &lt;Box style={{ height: 60, flexDirection: 'row', justifyContent: 'space-between', alignItems: 'center' }}&gt;&#10;    &lt;Text style={{ fontSize: 14, color: '#94A3B8' }}&gt;Gyra · 业务场景 Loop&lt;/Text&gt;&#10;    &lt;Text style={{ fontSize: 14, color: '#94A3B8' }}&gt;11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38150"/>
            <a:ext cx="76200" cy="4572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38200" y="333375"/>
            <a:ext cx="31432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F1F5F9"/>
                </a:solidFill>
                <a:latin typeface="Noto Sans CJK SC"/>
                <a:ea typeface="Noto Sans CJK SC"/>
              </a:rPr>
              <a:t>对客户意味着什么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38200" y="809625"/>
            <a:ext cx="3143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一个</a:t>
            </a:r>
            <a:r>
              <a:rPr lang="en-US" sz="1200">
                <a:solidFill>
                  <a:srgbClr val="94A3B8"/>
                </a:solidFill>
                <a:latin typeface="Noto Sans CJK SC"/>
                <a:ea typeface="Noto Sans CJK SC"/>
              </a:rPr>
              <a:t> 7×24 </a:t>
            </a: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在场、越用越懂你们团队的</a:t>
            </a:r>
            <a:r>
              <a:rPr lang="en-US" sz="1200">
                <a:solidFill>
                  <a:srgbClr val="94A3B8"/>
                </a:solidFill>
                <a:latin typeface="Noto Sans CJK SC"/>
                <a:ea typeface="Noto Sans CJK SC"/>
              </a:rPr>
              <a:t> AI </a:t>
            </a:r>
            <a:r>
              <a:rPr lang="zh-CN" sz="1200">
                <a:solidFill>
                  <a:srgbClr val="94A3B8"/>
                </a:solidFill>
                <a:latin typeface="Noto Sans CJK SC"/>
                <a:ea typeface="Noto Sans CJK SC"/>
              </a:rPr>
              <a:t>队友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723900" y="1143000"/>
            <a:ext cx="24765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gradFill>
                  <a:gsLst>
                    <a:gs pos="0">
                      <a:srgbClr val="3B82F6"/>
                    </a:gs>
                    <a:gs pos="100000">
                      <a:srgbClr val="22D3EE"/>
                    </a:gs>
                  </a:gsLst>
                  <a:lin ang="2700000" scaled="1"/>
                </a:gradFill>
                <a:latin typeface="Noto Sans CJK SC"/>
                <a:ea typeface="Noto Sans CJK SC"/>
              </a:rPr>
              <a:t>7×24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3581400" y="1390650"/>
            <a:ext cx="8001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F1F5F9"/>
                </a:solidFill>
                <a:latin typeface="Noto Sans CJK SC"/>
                <a:ea typeface="Noto Sans CJK SC"/>
              </a:rPr>
              <a:t>场景空间始终在线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3581400" y="1838325"/>
            <a:ext cx="80010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Noto Sans CJK SC"/>
                <a:ea typeface="Noto Sans CJK SC"/>
              </a:rPr>
              <a:t>触发器持续监听，告警来了有人看、月报到了有人出——</a:t>
            </a:r>
            <a:r>
              <a:rPr lang="en-US" sz="1275">
                <a:solidFill>
                  <a:srgbClr val="94A3B8"/>
                </a:solidFill>
                <a:latin typeface="Noto Sans CJK SC"/>
                <a:ea typeface="Noto Sans CJK SC"/>
              </a:rPr>
              <a:t>AI </a:t>
            </a:r>
            <a:r>
              <a:rPr lang="zh-CN" sz="1275">
                <a:solidFill>
                  <a:srgbClr val="94A3B8"/>
                </a:solidFill>
                <a:latin typeface="Noto Sans CJK SC"/>
                <a:ea typeface="Noto Sans CJK SC"/>
              </a:rPr>
              <a:t>不是</a:t>
            </a:r>
            <a:r>
              <a:rPr lang="en-US" sz="1275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275">
                <a:solidFill>
                  <a:srgbClr val="94A3B8"/>
                </a:solidFill>
                <a:latin typeface="Noto Sans CJK SC"/>
                <a:ea typeface="Noto Sans CJK SC"/>
              </a:rPr>
              <a:t>被调用时才存在</a:t>
            </a:r>
            <a:r>
              <a:rPr lang="en-US" sz="1275">
                <a:solidFill>
                  <a:srgbClr val="94A3B8"/>
                </a:solidFill>
                <a:latin typeface="Noto Sans CJK SC"/>
                <a:ea typeface="Noto Sans CJK SC"/>
              </a:rPr>
              <a:t>"</a:t>
            </a:r>
            <a:r>
              <a:rPr lang="zh-CN" sz="1275">
                <a:solidFill>
                  <a:srgbClr val="94A3B8"/>
                </a:solidFill>
                <a:latin typeface="Noto Sans CJK SC"/>
                <a:ea typeface="Noto Sans CJK SC"/>
              </a:rPr>
              <a:t>，而是始终在场。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2590800"/>
            <a:ext cx="10972800" cy="1076325"/>
          </a:xfrm>
          <a:prstGeom prst="roundRect">
            <a:avLst>
              <a:gd name="adj" fmla="val 12389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876300" y="2867025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3B82F6">
              <a:alpha val="18000"/>
            </a:srgbClr>
          </a:solidFill>
          <a:ln/>
        </p:spPr>
        <p:txBody>
          <a:bodyPr/>
          <a:p/>
        </p:txBody>
      </p:sp>
      <p:pic>
        <p:nvPicPr>
          <p:cNvPr id="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09650" y="3000375"/>
            <a:ext cx="266700" cy="266700"/>
          </a:xfrm>
          <a:prstGeom prst="rect">
            <a:avLst/>
          </a:prstGeom>
          <a:ln/>
        </p:spPr>
      </p:pic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619250" y="2847975"/>
            <a:ext cx="9696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1F5F9"/>
                </a:solidFill>
                <a:latin typeface="Noto Sans CJK SC"/>
                <a:ea typeface="Noto Sans CJK SC"/>
              </a:rPr>
              <a:t>数据敢用了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619250" y="3133725"/>
            <a:ext cx="969645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63">
                <a:solidFill>
                  <a:srgbClr val="94A3B8"/>
                </a:solidFill>
                <a:latin typeface="Noto Sans CJK SC"/>
                <a:ea typeface="Noto Sans CJK SC"/>
              </a:rPr>
              <a:t>每个数字都有口径、有出处、有人确认过。汇报和决策，可以直接引用。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09600" y="3800475"/>
            <a:ext cx="10972800" cy="1085850"/>
          </a:xfrm>
          <a:prstGeom prst="roundRect">
            <a:avLst>
              <a:gd name="adj" fmla="val 12281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876300" y="40767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22D3EE">
              <a:alpha val="15000"/>
            </a:srgbClr>
          </a:solidFill>
          <a:ln/>
        </p:spPr>
        <p:txBody>
          <a:bodyPr/>
          <a:p/>
        </p:txBody>
      </p:sp>
      <p:pic>
        <p:nvPicPr>
          <p:cNvPr id="5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009650" y="4210050"/>
            <a:ext cx="266700" cy="266700"/>
          </a:xfrm>
          <a:prstGeom prst="rect">
            <a:avLst/>
          </a:prstGeom>
          <a:ln/>
        </p:spPr>
      </p:pic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619250" y="4067175"/>
            <a:ext cx="9696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1F5F9"/>
                </a:solidFill>
                <a:latin typeface="Noto Sans CJK SC"/>
                <a:ea typeface="Noto Sans CJK SC"/>
              </a:rPr>
              <a:t>活有人干了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619250" y="4352925"/>
            <a:ext cx="969645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63">
                <a:solidFill>
                  <a:srgbClr val="94A3B8"/>
                </a:solidFill>
                <a:latin typeface="Noto Sans CJK SC"/>
                <a:ea typeface="Noto Sans CJK SC"/>
              </a:rPr>
              <a:t>巡检、对账、月报、应急响应自动跑，人只需要在关键阀门上做决策。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09600" y="5019675"/>
            <a:ext cx="10972800" cy="1076325"/>
          </a:xfrm>
          <a:prstGeom prst="roundRect">
            <a:avLst>
              <a:gd name="adj" fmla="val 12389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94A3B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"/>
          <p:cNvSpPr/>
          <p:nvPr/>
        </p:nvSpPr>
        <p:spPr>
          <a:xfrm rot="0" flipH="0" flipV="0">
            <a:off x="876300" y="52959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pic>
        <p:nvPicPr>
          <p:cNvPr id="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009650" y="5429250"/>
            <a:ext cx="266700" cy="266700"/>
          </a:xfrm>
          <a:prstGeom prst="rect">
            <a:avLst/>
          </a:prstGeom>
          <a:ln/>
        </p:spPr>
      </p:pic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619250" y="5276850"/>
            <a:ext cx="9696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1F5F9"/>
                </a:solidFill>
                <a:latin typeface="Noto Sans CJK SC"/>
                <a:ea typeface="Noto Sans CJK SC"/>
              </a:rPr>
              <a:t>经验留得下了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619250" y="5562600"/>
            <a:ext cx="969645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63">
                <a:solidFill>
                  <a:srgbClr val="94A3B8"/>
                </a:solidFill>
                <a:latin typeface="Noto Sans CJK SC"/>
                <a:ea typeface="Noto Sans CJK SC"/>
              </a:rPr>
              <a:t>每次执行都沉淀为团队资产。新人进场就是熟手水平，</a:t>
            </a:r>
            <a:r>
              <a:rPr lang="en-US" sz="1163">
                <a:solidFill>
                  <a:srgbClr val="94A3B8"/>
                </a:solidFill>
                <a:latin typeface="Noto Sans CJK SC"/>
                <a:ea typeface="Noto Sans CJK SC"/>
              </a:rPr>
              <a:t>AI </a:t>
            </a:r>
            <a:r>
              <a:rPr lang="zh-CN" sz="1163">
                <a:solidFill>
                  <a:srgbClr val="94A3B8"/>
                </a:solidFill>
                <a:latin typeface="Noto Sans CJK SC"/>
                <a:ea typeface="Noto Sans CJK SC"/>
              </a:rPr>
              <a:t>也越用越懂你们。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6305550"/>
            <a:ext cx="1343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Gyra · </a:t>
            </a:r>
            <a:r>
              <a:rPr lang="zh-CN" sz="1050">
                <a:solidFill>
                  <a:srgbClr val="94A3B8"/>
                </a:solidFill>
                <a:latin typeface="Noto Sans CJK SC"/>
                <a:ea typeface="Noto Sans CJK SC"/>
              </a:rPr>
              <a:t>业务场景</a:t>
            </a: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 Loop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182350" y="63055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Noto Sans CJK SC"/>
                <a:ea typeface="Noto Sans CJK SC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67" name="" descr="&lt;Slide style={{ width: '1280px', height: '720px', background: '#0F172A', padding: 0, fontFamily: 'Noto Sans CJK SC, PingFang SC, Helvetica Neue, sans-serif' }}&gt;&#10;  &lt;Box style={{ position: 'relative', width: '100%', height: '100%' }}&gt;&#10;    {/* 背景装饰圆环 */}&#10;    &lt;Box style={{ position: 'absolute', top: 28, right: 40, width: 260, height: 260, borderRadius: 130, border: '1.5px solid rgba(59,130,246,0.25)' }} /&gt;&#10;    &lt;Box style={{ position: 'absolute', top: 76, right: 88, width: 164, height: 164, borderRadius: 82, border: '1.5px solid rgba(34,211,238,0.20)' }} /&gt;&#10;    &lt;Box style={{ position: 'absolute', bottom: 32, left: 48, width: 300, height: 300, borderRadius: 150, border: '1.5px solid rgba(59,130,246,0.18)' }} /&gt;&#10;    {/* 居中金句 */}&#10;    &lt;Box style={{ position: 'relative', zIndex: 1, height: '100%', flexDirection: 'column', justifyContent: 'center', alignItems: 'center', padding: '0 100px' }}&gt;&#10;      &lt;Text style={{ fontSize: 20, color: '#22D3EE', letterSpacing: 8, fontWeight: 600 }}&gt;GYRA · 业务场景 LOOP&lt;/Text&gt;&#10;      &lt;Box style={{ marginTop: 44, width: 80, height: 4, background: 'linear-gradient(90deg, #3B82F6, #22D3EE)', borderRadius: 2 }} /&gt;&#10;      &lt;Text style={{ fontSize: 44, fontWeight: 'bold', color: '#F1F5F9', textAlign: 'center', lineHeight: 1.5, marginTop: 36 }}&gt;业务数据越跑，飞轮越快，&lt;br /&gt;空间越用越厚。&lt;/Text&gt;&#10;      &lt;Text style={{ fontSize: 20, color: '#94A3B8', textAlign: 'center', lineHeight: 1.7, marginTop: 32 }}&gt;数据可信 · 循环自转 · 持续学习 · 共同成长&lt;br /&gt;让 AI 在你们的场景里，变成一个真正的队友&lt;/Text&gt;&#10;      &lt;Box style={{ marginTop: 56, background: 'rgba(245,158,11,0.12)', border: '1px solid rgba(245,158,11,0.4)', borderRadius: 999, padding: '12px 36px' }}&gt;&#10;        &lt;Text style={{ fontSize: 18, color: '#F59E0B', fontWeight: 'bold' }}&gt;Gyra · 团队的 AI 飞轮，越用越强&lt;/Text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69" name=""/>
          <p:cNvSpPr/>
          <p:nvPr/>
        </p:nvSpPr>
        <p:spPr>
          <a:xfrm rot="0" flipH="0" flipV="0">
            <a:off x="9334500" y="266700"/>
            <a:ext cx="2476500" cy="2476500"/>
          </a:xfrm>
          <a:prstGeom prst="roundRect">
            <a:avLst>
              <a:gd name="adj" fmla="val 50000"/>
            </a:avLst>
          </a:prstGeom>
          <a:ln w="19050">
            <a:solidFill>
              <a:srgbClr val="3B82F6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9791700" y="723900"/>
            <a:ext cx="1562100" cy="1562100"/>
          </a:xfrm>
          <a:prstGeom prst="roundRect">
            <a:avLst>
              <a:gd name="adj" fmla="val 50000"/>
            </a:avLst>
          </a:prstGeom>
          <a:ln w="19050">
            <a:solidFill>
              <a:srgbClr val="22D3EE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457200" y="3695700"/>
            <a:ext cx="2857500" cy="2857500"/>
          </a:xfrm>
          <a:prstGeom prst="roundRect">
            <a:avLst>
              <a:gd name="adj" fmla="val 50000"/>
            </a:avLst>
          </a:prstGeom>
          <a:ln w="19050">
            <a:solidFill>
              <a:srgbClr val="3B82F6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429125" y="1133475"/>
            <a:ext cx="3343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600">
                <a:solidFill>
                  <a:srgbClr val="22D3EE"/>
                </a:solidFill>
                <a:latin typeface="Noto Sans CJK SC"/>
                <a:ea typeface="Noto Sans CJK SC"/>
              </a:rPr>
              <a:t>GYRA · </a:t>
            </a:r>
            <a:r>
              <a:rPr lang="zh-CN" sz="1500" b="1" spc="600">
                <a:solidFill>
                  <a:srgbClr val="22D3EE"/>
                </a:solidFill>
                <a:latin typeface="Noto Sans CJK SC"/>
                <a:ea typeface="Noto Sans CJK SC"/>
              </a:rPr>
              <a:t>业务场景</a:t>
            </a:r>
            <a:r>
              <a:rPr lang="en-US" sz="1500" b="1" spc="600">
                <a:solidFill>
                  <a:srgbClr val="22D3EE"/>
                </a:solidFill>
                <a:latin typeface="Noto Sans CJK SC"/>
                <a:ea typeface="Noto Sans CJK SC"/>
              </a:rPr>
              <a:t> LOOP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5715000" y="1781175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581400" y="2162175"/>
            <a:ext cx="5029200" cy="15144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3300" b="1">
                <a:solidFill>
                  <a:srgbClr val="F1F5F9"/>
                </a:solidFill>
                <a:latin typeface="Noto Sans CJK SC"/>
                <a:ea typeface="Noto Sans CJK SC"/>
              </a:rPr>
              <a:t>业务数据越跑，飞轮越快，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3300" b="1">
                <a:solidFill>
                  <a:srgbClr val="F1F5F9"/>
                </a:solidFill>
                <a:latin typeface="Noto Sans CJK SC"/>
                <a:ea typeface="Noto Sans CJK SC"/>
              </a:rPr>
              <a:t>空间越用越厚。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229100" y="3981450"/>
            <a:ext cx="3733800" cy="7810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500">
                <a:solidFill>
                  <a:srgbClr val="94A3B8"/>
                </a:solidFill>
                <a:latin typeface="Noto Sans CJK SC"/>
                <a:ea typeface="Noto Sans CJK SC"/>
              </a:rPr>
              <a:t>数据可信</a:t>
            </a:r>
            <a:r>
              <a:rPr lang="en-US" sz="1500">
                <a:solidFill>
                  <a:srgbClr val="94A3B8"/>
                </a:solidFill>
                <a:latin typeface="Noto Sans CJK SC"/>
                <a:ea typeface="Noto Sans CJK SC"/>
              </a:rPr>
              <a:t> · </a:t>
            </a:r>
            <a:r>
              <a:rPr lang="zh-CN" sz="1500">
                <a:solidFill>
                  <a:srgbClr val="94A3B8"/>
                </a:solidFill>
                <a:latin typeface="Noto Sans CJK SC"/>
                <a:ea typeface="Noto Sans CJK SC"/>
              </a:rPr>
              <a:t>循环自转</a:t>
            </a:r>
            <a:r>
              <a:rPr lang="en-US" sz="1500">
                <a:solidFill>
                  <a:srgbClr val="94A3B8"/>
                </a:solidFill>
                <a:latin typeface="Noto Sans CJK SC"/>
                <a:ea typeface="Noto Sans CJK SC"/>
              </a:rPr>
              <a:t> · </a:t>
            </a:r>
            <a:r>
              <a:rPr lang="zh-CN" sz="1500">
                <a:solidFill>
                  <a:srgbClr val="94A3B8"/>
                </a:solidFill>
                <a:latin typeface="Noto Sans CJK SC"/>
                <a:ea typeface="Noto Sans CJK SC"/>
              </a:rPr>
              <a:t>持续学习</a:t>
            </a:r>
            <a:r>
              <a:rPr lang="en-US" sz="1500">
                <a:solidFill>
                  <a:srgbClr val="94A3B8"/>
                </a:solidFill>
                <a:latin typeface="Noto Sans CJK SC"/>
                <a:ea typeface="Noto Sans CJK SC"/>
              </a:rPr>
              <a:t> · </a:t>
            </a:r>
            <a:r>
              <a:rPr lang="zh-CN" sz="1500">
                <a:solidFill>
                  <a:srgbClr val="94A3B8"/>
                </a:solidFill>
                <a:latin typeface="Noto Sans CJK SC"/>
                <a:ea typeface="Noto Sans CJK SC"/>
              </a:rPr>
              <a:t>共同成长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500">
                <a:solidFill>
                  <a:srgbClr val="94A3B8"/>
                </a:solidFill>
                <a:latin typeface="Noto Sans CJK SC"/>
                <a:ea typeface="Noto Sans CJK SC"/>
              </a:rPr>
              <a:t>让</a:t>
            </a:r>
            <a:r>
              <a:rPr lang="en-US" sz="1500">
                <a:solidFill>
                  <a:srgbClr val="94A3B8"/>
                </a:solidFill>
                <a:latin typeface="Noto Sans CJK SC"/>
                <a:ea typeface="Noto Sans CJK SC"/>
              </a:rPr>
              <a:t> AI </a:t>
            </a:r>
            <a:r>
              <a:rPr lang="zh-CN" sz="1500">
                <a:solidFill>
                  <a:srgbClr val="94A3B8"/>
                </a:solidFill>
                <a:latin typeface="Noto Sans CJK SC"/>
                <a:ea typeface="Noto Sans CJK SC"/>
              </a:rPr>
              <a:t>在你们的场景里，变成一个真正的队友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467225" y="5295900"/>
            <a:ext cx="3257550" cy="438150"/>
          </a:xfrm>
          <a:prstGeom prst="roundRect">
            <a:avLst>
              <a:gd name="adj" fmla="val 2171739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810125" y="5410200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59E0B"/>
                </a:solidFill>
                <a:latin typeface="Noto Sans CJK SC"/>
                <a:ea typeface="Noto Sans CJK SC"/>
              </a:rPr>
              <a:t>Gyra · </a:t>
            </a:r>
            <a:r>
              <a:rPr lang="zh-CN" sz="1350" b="1">
                <a:solidFill>
                  <a:srgbClr val="F59E0B"/>
                </a:solidFill>
                <a:latin typeface="Noto Sans CJK SC"/>
                <a:ea typeface="Noto Sans CJK SC"/>
              </a:rPr>
              <a:t>团队的</a:t>
            </a:r>
            <a:r>
              <a:rPr lang="en-US" sz="1350" b="1">
                <a:solidFill>
                  <a:srgbClr val="F59E0B"/>
                </a:solidFill>
                <a:latin typeface="Noto Sans CJK SC"/>
                <a:ea typeface="Noto Sans CJK SC"/>
              </a:rPr>
              <a:t> AI </a:t>
            </a:r>
            <a:r>
              <a:rPr lang="zh-CN" sz="1350" b="1">
                <a:solidFill>
                  <a:srgbClr val="F59E0B"/>
                </a:solidFill>
                <a:latin typeface="Noto Sans CJK SC"/>
                <a:ea typeface="Noto Sans CJK SC"/>
              </a:rPr>
              <a:t>飞轮，越用越强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2026-08-03T23:06:21Z</dcterms:created>
  <dcterms:modified xsi:type="dcterms:W3CDTF">2026-08-03T23:06:21Z</dcterms:modified>
</cp:coreProperties>
</file>